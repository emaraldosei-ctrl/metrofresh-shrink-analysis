
<file path=[Content_Types].xml><?xml version="1.0" encoding="utf-8"?>
<Types xmlns="http://schemas.openxmlformats.org/package/2006/content-types">
  <Default Extension="png" ContentType="image/png"/>
  <Default Extension="webp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embeddedFontLst>
    <p:embeddedFont>
      <p:font typeface="Inter" panose="020B0604020202020204" charset="0"/>
      <p:bold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FbgtVGuNudFFG8l4yhlTcwiIp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webp"/><Relationship Id="rId1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webp"/><Relationship Id="rId1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FD1EE-F1FA-4A86-B360-EBE64D76A436}" type="doc">
      <dgm:prSet loTypeId="urn:microsoft.com/office/officeart/2005/8/layout/v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54259DEC-13A7-424A-8A0C-CEF957B5AEA0}">
      <dgm:prSet/>
      <dgm:spPr/>
      <dgm:t>
        <a:bodyPr/>
        <a:lstStyle/>
        <a:p>
          <a:pPr rtl="0"/>
          <a:r>
            <a:rPr lang="en-GB" b="0" i="0" smtClean="0"/>
            <a:t>Total Revenue - $8.88M</a:t>
          </a:r>
          <a:endParaRPr lang="en-GB"/>
        </a:p>
      </dgm:t>
    </dgm:pt>
    <dgm:pt modelId="{4036C0B9-2E80-431E-A141-A03E0FD1501B}" type="parTrans" cxnId="{25CC9993-A321-4CD0-B01B-E7BEEBF73236}">
      <dgm:prSet/>
      <dgm:spPr/>
      <dgm:t>
        <a:bodyPr/>
        <a:lstStyle/>
        <a:p>
          <a:endParaRPr lang="en-GB"/>
        </a:p>
      </dgm:t>
    </dgm:pt>
    <dgm:pt modelId="{22A8C302-37B2-480A-9F77-EFE81CA875E0}" type="sibTrans" cxnId="{25CC9993-A321-4CD0-B01B-E7BEEBF73236}">
      <dgm:prSet/>
      <dgm:spPr/>
      <dgm:t>
        <a:bodyPr/>
        <a:lstStyle/>
        <a:p>
          <a:endParaRPr lang="en-GB"/>
        </a:p>
      </dgm:t>
    </dgm:pt>
    <dgm:pt modelId="{6BBA7A5F-F5B8-4F5C-8DDE-E16BDD07AEEC}">
      <dgm:prSet/>
      <dgm:spPr/>
      <dgm:t>
        <a:bodyPr/>
        <a:lstStyle/>
        <a:p>
          <a:pPr rtl="0"/>
          <a:r>
            <a:rPr lang="en-GB" b="0" i="0" smtClean="0"/>
            <a:t>Gross Profit Margin- 42.50%</a:t>
          </a:r>
          <a:endParaRPr lang="en-GB"/>
        </a:p>
      </dgm:t>
    </dgm:pt>
    <dgm:pt modelId="{7076C46A-3B46-427A-B592-AD4E966DD46C}" type="parTrans" cxnId="{F682073A-C342-4844-9CE3-27A090ABFAA1}">
      <dgm:prSet/>
      <dgm:spPr/>
      <dgm:t>
        <a:bodyPr/>
        <a:lstStyle/>
        <a:p>
          <a:endParaRPr lang="en-GB"/>
        </a:p>
      </dgm:t>
    </dgm:pt>
    <dgm:pt modelId="{3CEE1D7D-23A1-46A2-97E7-08270C36DE91}" type="sibTrans" cxnId="{F682073A-C342-4844-9CE3-27A090ABFAA1}">
      <dgm:prSet/>
      <dgm:spPr/>
      <dgm:t>
        <a:bodyPr/>
        <a:lstStyle/>
        <a:p>
          <a:endParaRPr lang="en-GB"/>
        </a:p>
      </dgm:t>
    </dgm:pt>
    <dgm:pt modelId="{56EFEA7A-199B-4805-908A-6B0FF2BFEBE1}">
      <dgm:prSet/>
      <dgm:spPr/>
      <dgm:t>
        <a:bodyPr/>
        <a:lstStyle/>
        <a:p>
          <a:pPr rtl="0"/>
          <a:r>
            <a:rPr lang="en-GB" b="0" i="0" smtClean="0"/>
            <a:t>Total Shrink Value- $217.12K</a:t>
          </a:r>
          <a:endParaRPr lang="en-GB"/>
        </a:p>
      </dgm:t>
    </dgm:pt>
    <dgm:pt modelId="{168EF8A8-0DC7-4053-9AC1-705C28C60676}" type="parTrans" cxnId="{294C4324-AA20-4A3E-A5CB-6FF2B8D52664}">
      <dgm:prSet/>
      <dgm:spPr/>
      <dgm:t>
        <a:bodyPr/>
        <a:lstStyle/>
        <a:p>
          <a:endParaRPr lang="en-GB"/>
        </a:p>
      </dgm:t>
    </dgm:pt>
    <dgm:pt modelId="{FD5FDC29-7CE9-4D02-9E8F-13EB7D52A2FD}" type="sibTrans" cxnId="{294C4324-AA20-4A3E-A5CB-6FF2B8D52664}">
      <dgm:prSet/>
      <dgm:spPr/>
      <dgm:t>
        <a:bodyPr/>
        <a:lstStyle/>
        <a:p>
          <a:endParaRPr lang="en-GB"/>
        </a:p>
      </dgm:t>
    </dgm:pt>
    <dgm:pt modelId="{0BA03E6B-EED9-4D66-A920-3A4895DD8641}">
      <dgm:prSet/>
      <dgm:spPr/>
      <dgm:t>
        <a:bodyPr/>
        <a:lstStyle/>
        <a:p>
          <a:pPr rtl="0"/>
          <a:r>
            <a:rPr lang="en-GB" b="0" i="0" dirty="0" smtClean="0"/>
            <a:t>Shrink Rate- 2.44%</a:t>
          </a:r>
          <a:endParaRPr lang="en-GB" dirty="0"/>
        </a:p>
      </dgm:t>
    </dgm:pt>
    <dgm:pt modelId="{B6AFE7D0-C58D-4F59-BCDE-043C07C67286}" type="parTrans" cxnId="{FDC1A98B-CDD0-4FE7-957C-7403D452B81B}">
      <dgm:prSet/>
      <dgm:spPr/>
      <dgm:t>
        <a:bodyPr/>
        <a:lstStyle/>
        <a:p>
          <a:endParaRPr lang="en-GB"/>
        </a:p>
      </dgm:t>
    </dgm:pt>
    <dgm:pt modelId="{2B661DBC-CB38-483C-9C1A-F5D3E48098EA}" type="sibTrans" cxnId="{FDC1A98B-CDD0-4FE7-957C-7403D452B81B}">
      <dgm:prSet/>
      <dgm:spPr/>
      <dgm:t>
        <a:bodyPr/>
        <a:lstStyle/>
        <a:p>
          <a:endParaRPr lang="en-GB"/>
        </a:p>
      </dgm:t>
    </dgm:pt>
    <dgm:pt modelId="{7EB07D86-B481-46BC-B0CE-853B7F388509}">
      <dgm:prSet/>
      <dgm:spPr/>
      <dgm:t>
        <a:bodyPr/>
        <a:lstStyle/>
        <a:p>
          <a:pPr rtl="0"/>
          <a:r>
            <a:rPr lang="en-GB" b="0" i="0" smtClean="0"/>
            <a:t>Inventory Record Accuracy- 97.01%</a:t>
          </a:r>
          <a:endParaRPr lang="en-GB"/>
        </a:p>
      </dgm:t>
    </dgm:pt>
    <dgm:pt modelId="{69AEF18A-256C-4797-89EC-C6C590DDA748}" type="parTrans" cxnId="{7B05DDDE-8A5B-4B74-9AD4-2B5175F6BD3A}">
      <dgm:prSet/>
      <dgm:spPr/>
      <dgm:t>
        <a:bodyPr/>
        <a:lstStyle/>
        <a:p>
          <a:endParaRPr lang="en-GB"/>
        </a:p>
      </dgm:t>
    </dgm:pt>
    <dgm:pt modelId="{98FB44EB-D829-44C8-9B37-E1CCB1929FCD}" type="sibTrans" cxnId="{7B05DDDE-8A5B-4B74-9AD4-2B5175F6BD3A}">
      <dgm:prSet/>
      <dgm:spPr/>
      <dgm:t>
        <a:bodyPr/>
        <a:lstStyle/>
        <a:p>
          <a:endParaRPr lang="en-GB"/>
        </a:p>
      </dgm:t>
    </dgm:pt>
    <dgm:pt modelId="{B6C7CC36-6ED7-4264-BF1E-8DBEBAE37AE5}" type="pres">
      <dgm:prSet presAssocID="{E20FD1EE-F1FA-4A86-B360-EBE64D76A436}" presName="linearFlow" presStyleCnt="0">
        <dgm:presLayoutVars>
          <dgm:dir/>
          <dgm:resizeHandles val="exact"/>
        </dgm:presLayoutVars>
      </dgm:prSet>
      <dgm:spPr/>
    </dgm:pt>
    <dgm:pt modelId="{3FAD4FCF-5043-48B1-9809-48F3A95D3D33}" type="pres">
      <dgm:prSet presAssocID="{54259DEC-13A7-424A-8A0C-CEF957B5AEA0}" presName="composite" presStyleCnt="0"/>
      <dgm:spPr/>
    </dgm:pt>
    <dgm:pt modelId="{50125FCD-3ABE-4B13-ADFB-9F6F07F2DCB8}" type="pres">
      <dgm:prSet presAssocID="{54259DEC-13A7-424A-8A0C-CEF957B5AEA0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76D71B54-3EDF-4DAD-8C58-6E9C5443BDF9}" type="pres">
      <dgm:prSet presAssocID="{54259DEC-13A7-424A-8A0C-CEF957B5AEA0}" presName="txShp" presStyleLbl="node1" presStyleIdx="0" presStyleCnt="5">
        <dgm:presLayoutVars>
          <dgm:bulletEnabled val="1"/>
        </dgm:presLayoutVars>
      </dgm:prSet>
      <dgm:spPr/>
    </dgm:pt>
    <dgm:pt modelId="{B02581BC-9539-40DA-8B7F-35D9E6B30E5C}" type="pres">
      <dgm:prSet presAssocID="{22A8C302-37B2-480A-9F77-EFE81CA875E0}" presName="spacing" presStyleCnt="0"/>
      <dgm:spPr/>
    </dgm:pt>
    <dgm:pt modelId="{0A219ED2-505E-481F-98B4-80506B8B3772}" type="pres">
      <dgm:prSet presAssocID="{6BBA7A5F-F5B8-4F5C-8DDE-E16BDD07AEEC}" presName="composite" presStyleCnt="0"/>
      <dgm:spPr/>
    </dgm:pt>
    <dgm:pt modelId="{D44F57BD-1851-4DE7-8B8D-CA7B907AD0A8}" type="pres">
      <dgm:prSet presAssocID="{6BBA7A5F-F5B8-4F5C-8DDE-E16BDD07AEEC}" presName="imgShp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</dgm:spPr>
      <dgm:t>
        <a:bodyPr/>
        <a:lstStyle/>
        <a:p>
          <a:endParaRPr lang="en-GB"/>
        </a:p>
      </dgm:t>
    </dgm:pt>
    <dgm:pt modelId="{1C17B892-3153-461C-ACF1-51B28F543A50}" type="pres">
      <dgm:prSet presAssocID="{6BBA7A5F-F5B8-4F5C-8DDE-E16BDD07AEEC}" presName="txShp" presStyleLbl="node1" presStyleIdx="1" presStyleCnt="5">
        <dgm:presLayoutVars>
          <dgm:bulletEnabled val="1"/>
        </dgm:presLayoutVars>
      </dgm:prSet>
      <dgm:spPr/>
    </dgm:pt>
    <dgm:pt modelId="{CDF8F075-F9C8-4373-817F-85CB0B818C78}" type="pres">
      <dgm:prSet presAssocID="{3CEE1D7D-23A1-46A2-97E7-08270C36DE91}" presName="spacing" presStyleCnt="0"/>
      <dgm:spPr/>
    </dgm:pt>
    <dgm:pt modelId="{D8C8932B-01CD-4EE2-ACDB-84E8A92BE88D}" type="pres">
      <dgm:prSet presAssocID="{56EFEA7A-199B-4805-908A-6B0FF2BFEBE1}" presName="composite" presStyleCnt="0"/>
      <dgm:spPr/>
    </dgm:pt>
    <dgm:pt modelId="{6757E5CF-3C0A-46F5-88F9-115051E12E86}" type="pres">
      <dgm:prSet presAssocID="{56EFEA7A-199B-4805-908A-6B0FF2BFEBE1}" presName="imgShp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279E1B5-AB05-4B4C-8CAD-5D46059A1328}" type="pres">
      <dgm:prSet presAssocID="{56EFEA7A-199B-4805-908A-6B0FF2BFEBE1}" presName="txShp" presStyleLbl="node1" presStyleIdx="2" presStyleCnt="5">
        <dgm:presLayoutVars>
          <dgm:bulletEnabled val="1"/>
        </dgm:presLayoutVars>
      </dgm:prSet>
      <dgm:spPr/>
    </dgm:pt>
    <dgm:pt modelId="{3F59816D-04F7-4727-8799-705F3B39BBA5}" type="pres">
      <dgm:prSet presAssocID="{FD5FDC29-7CE9-4D02-9E8F-13EB7D52A2FD}" presName="spacing" presStyleCnt="0"/>
      <dgm:spPr/>
    </dgm:pt>
    <dgm:pt modelId="{BF8DFD91-BDA6-4060-8E8A-F158DF025D83}" type="pres">
      <dgm:prSet presAssocID="{0BA03E6B-EED9-4D66-A920-3A4895DD8641}" presName="composite" presStyleCnt="0"/>
      <dgm:spPr/>
    </dgm:pt>
    <dgm:pt modelId="{E7BA7773-664D-4719-9D53-A0900CB0DCC3}" type="pres">
      <dgm:prSet presAssocID="{0BA03E6B-EED9-4D66-A920-3A4895DD8641}" presName="imgShp" presStyleLbl="fgImgPlace1" presStyleIdx="3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E821F3B9-441D-415B-907F-F6A14F86FE4D}" type="pres">
      <dgm:prSet presAssocID="{0BA03E6B-EED9-4D66-A920-3A4895DD8641}" presName="txShp" presStyleLbl="node1" presStyleIdx="3" presStyleCnt="5">
        <dgm:presLayoutVars>
          <dgm:bulletEnabled val="1"/>
        </dgm:presLayoutVars>
      </dgm:prSet>
      <dgm:spPr/>
    </dgm:pt>
    <dgm:pt modelId="{5FF7F676-8760-483E-A982-C033CF8500C2}" type="pres">
      <dgm:prSet presAssocID="{2B661DBC-CB38-483C-9C1A-F5D3E48098EA}" presName="spacing" presStyleCnt="0"/>
      <dgm:spPr/>
    </dgm:pt>
    <dgm:pt modelId="{99A75092-75E9-4B61-8529-44776BBE5E1E}" type="pres">
      <dgm:prSet presAssocID="{7EB07D86-B481-46BC-B0CE-853B7F388509}" presName="composite" presStyleCnt="0"/>
      <dgm:spPr/>
    </dgm:pt>
    <dgm:pt modelId="{607E3882-8E51-471E-AB5C-B8B7F83EF722}" type="pres">
      <dgm:prSet presAssocID="{7EB07D86-B481-46BC-B0CE-853B7F388509}" presName="imgShp" presStyleLbl="fgImgPlace1" presStyleIdx="4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F52DFFD7-4FC9-4E67-83AF-B0C8D9F81295}" type="pres">
      <dgm:prSet presAssocID="{7EB07D86-B481-46BC-B0CE-853B7F388509}" presName="txShp" presStyleLbl="node1" presStyleIdx="4" presStyleCnt="5">
        <dgm:presLayoutVars>
          <dgm:bulletEnabled val="1"/>
        </dgm:presLayoutVars>
      </dgm:prSet>
      <dgm:spPr/>
    </dgm:pt>
  </dgm:ptLst>
  <dgm:cxnLst>
    <dgm:cxn modelId="{026811C3-8D8F-4FC0-9206-72D1F880406B}" type="presOf" srcId="{56EFEA7A-199B-4805-908A-6B0FF2BFEBE1}" destId="{4279E1B5-AB05-4B4C-8CAD-5D46059A1328}" srcOrd="0" destOrd="0" presId="urn:microsoft.com/office/officeart/2005/8/layout/vList3"/>
    <dgm:cxn modelId="{294C4324-AA20-4A3E-A5CB-6FF2B8D52664}" srcId="{E20FD1EE-F1FA-4A86-B360-EBE64D76A436}" destId="{56EFEA7A-199B-4805-908A-6B0FF2BFEBE1}" srcOrd="2" destOrd="0" parTransId="{168EF8A8-0DC7-4053-9AC1-705C28C60676}" sibTransId="{FD5FDC29-7CE9-4D02-9E8F-13EB7D52A2FD}"/>
    <dgm:cxn modelId="{FDC1A98B-CDD0-4FE7-957C-7403D452B81B}" srcId="{E20FD1EE-F1FA-4A86-B360-EBE64D76A436}" destId="{0BA03E6B-EED9-4D66-A920-3A4895DD8641}" srcOrd="3" destOrd="0" parTransId="{B6AFE7D0-C58D-4F59-BCDE-043C07C67286}" sibTransId="{2B661DBC-CB38-483C-9C1A-F5D3E48098EA}"/>
    <dgm:cxn modelId="{F682073A-C342-4844-9CE3-27A090ABFAA1}" srcId="{E20FD1EE-F1FA-4A86-B360-EBE64D76A436}" destId="{6BBA7A5F-F5B8-4F5C-8DDE-E16BDD07AEEC}" srcOrd="1" destOrd="0" parTransId="{7076C46A-3B46-427A-B592-AD4E966DD46C}" sibTransId="{3CEE1D7D-23A1-46A2-97E7-08270C36DE91}"/>
    <dgm:cxn modelId="{25CC9993-A321-4CD0-B01B-E7BEEBF73236}" srcId="{E20FD1EE-F1FA-4A86-B360-EBE64D76A436}" destId="{54259DEC-13A7-424A-8A0C-CEF957B5AEA0}" srcOrd="0" destOrd="0" parTransId="{4036C0B9-2E80-431E-A141-A03E0FD1501B}" sibTransId="{22A8C302-37B2-480A-9F77-EFE81CA875E0}"/>
    <dgm:cxn modelId="{ECCBC5C5-1157-4F2F-9C4E-B44EB711CF5D}" type="presOf" srcId="{7EB07D86-B481-46BC-B0CE-853B7F388509}" destId="{F52DFFD7-4FC9-4E67-83AF-B0C8D9F81295}" srcOrd="0" destOrd="0" presId="urn:microsoft.com/office/officeart/2005/8/layout/vList3"/>
    <dgm:cxn modelId="{AD63E8B3-8B00-4FF5-9B17-6371CBD92055}" type="presOf" srcId="{0BA03E6B-EED9-4D66-A920-3A4895DD8641}" destId="{E821F3B9-441D-415B-907F-F6A14F86FE4D}" srcOrd="0" destOrd="0" presId="urn:microsoft.com/office/officeart/2005/8/layout/vList3"/>
    <dgm:cxn modelId="{7B05DDDE-8A5B-4B74-9AD4-2B5175F6BD3A}" srcId="{E20FD1EE-F1FA-4A86-B360-EBE64D76A436}" destId="{7EB07D86-B481-46BC-B0CE-853B7F388509}" srcOrd="4" destOrd="0" parTransId="{69AEF18A-256C-4797-89EC-C6C590DDA748}" sibTransId="{98FB44EB-D829-44C8-9B37-E1CCB1929FCD}"/>
    <dgm:cxn modelId="{6FCF7C7D-DD8A-4F01-BC4D-F5D2B01B54F5}" type="presOf" srcId="{54259DEC-13A7-424A-8A0C-CEF957B5AEA0}" destId="{76D71B54-3EDF-4DAD-8C58-6E9C5443BDF9}" srcOrd="0" destOrd="0" presId="urn:microsoft.com/office/officeart/2005/8/layout/vList3"/>
    <dgm:cxn modelId="{1C349991-B687-4CCA-A453-E4004376F1BB}" type="presOf" srcId="{6BBA7A5F-F5B8-4F5C-8DDE-E16BDD07AEEC}" destId="{1C17B892-3153-461C-ACF1-51B28F543A50}" srcOrd="0" destOrd="0" presId="urn:microsoft.com/office/officeart/2005/8/layout/vList3"/>
    <dgm:cxn modelId="{0820D1DF-C5A0-4CE7-AA27-6A432E88D74C}" type="presOf" srcId="{E20FD1EE-F1FA-4A86-B360-EBE64D76A436}" destId="{B6C7CC36-6ED7-4264-BF1E-8DBEBAE37AE5}" srcOrd="0" destOrd="0" presId="urn:microsoft.com/office/officeart/2005/8/layout/vList3"/>
    <dgm:cxn modelId="{04ABECEE-0F15-4B23-9823-0F962CD444E7}" type="presParOf" srcId="{B6C7CC36-6ED7-4264-BF1E-8DBEBAE37AE5}" destId="{3FAD4FCF-5043-48B1-9809-48F3A95D3D33}" srcOrd="0" destOrd="0" presId="urn:microsoft.com/office/officeart/2005/8/layout/vList3"/>
    <dgm:cxn modelId="{F6B8210F-DC7C-4C86-BD8E-1564B4326252}" type="presParOf" srcId="{3FAD4FCF-5043-48B1-9809-48F3A95D3D33}" destId="{50125FCD-3ABE-4B13-ADFB-9F6F07F2DCB8}" srcOrd="0" destOrd="0" presId="urn:microsoft.com/office/officeart/2005/8/layout/vList3"/>
    <dgm:cxn modelId="{B51CD45C-B42B-456B-840A-C4746A419BBB}" type="presParOf" srcId="{3FAD4FCF-5043-48B1-9809-48F3A95D3D33}" destId="{76D71B54-3EDF-4DAD-8C58-6E9C5443BDF9}" srcOrd="1" destOrd="0" presId="urn:microsoft.com/office/officeart/2005/8/layout/vList3"/>
    <dgm:cxn modelId="{6A3315A8-BD01-48B2-B6D2-B0AB7803171E}" type="presParOf" srcId="{B6C7CC36-6ED7-4264-BF1E-8DBEBAE37AE5}" destId="{B02581BC-9539-40DA-8B7F-35D9E6B30E5C}" srcOrd="1" destOrd="0" presId="urn:microsoft.com/office/officeart/2005/8/layout/vList3"/>
    <dgm:cxn modelId="{4A1D1540-0A33-4803-9237-209DE969B2B5}" type="presParOf" srcId="{B6C7CC36-6ED7-4264-BF1E-8DBEBAE37AE5}" destId="{0A219ED2-505E-481F-98B4-80506B8B3772}" srcOrd="2" destOrd="0" presId="urn:microsoft.com/office/officeart/2005/8/layout/vList3"/>
    <dgm:cxn modelId="{92BE5DE1-CD77-41AE-9DF2-7767EEDF0667}" type="presParOf" srcId="{0A219ED2-505E-481F-98B4-80506B8B3772}" destId="{D44F57BD-1851-4DE7-8B8D-CA7B907AD0A8}" srcOrd="0" destOrd="0" presId="urn:microsoft.com/office/officeart/2005/8/layout/vList3"/>
    <dgm:cxn modelId="{5D474D6D-6172-42CF-A482-3E93335A60D0}" type="presParOf" srcId="{0A219ED2-505E-481F-98B4-80506B8B3772}" destId="{1C17B892-3153-461C-ACF1-51B28F543A50}" srcOrd="1" destOrd="0" presId="urn:microsoft.com/office/officeart/2005/8/layout/vList3"/>
    <dgm:cxn modelId="{E9E3810C-5E42-4963-BE21-07CD11F5C20C}" type="presParOf" srcId="{B6C7CC36-6ED7-4264-BF1E-8DBEBAE37AE5}" destId="{CDF8F075-F9C8-4373-817F-85CB0B818C78}" srcOrd="3" destOrd="0" presId="urn:microsoft.com/office/officeart/2005/8/layout/vList3"/>
    <dgm:cxn modelId="{BB4CFF8C-4C7A-4923-9A1A-ECB87469B683}" type="presParOf" srcId="{B6C7CC36-6ED7-4264-BF1E-8DBEBAE37AE5}" destId="{D8C8932B-01CD-4EE2-ACDB-84E8A92BE88D}" srcOrd="4" destOrd="0" presId="urn:microsoft.com/office/officeart/2005/8/layout/vList3"/>
    <dgm:cxn modelId="{29A86C60-AB0D-45C3-A791-30226E07C651}" type="presParOf" srcId="{D8C8932B-01CD-4EE2-ACDB-84E8A92BE88D}" destId="{6757E5CF-3C0A-46F5-88F9-115051E12E86}" srcOrd="0" destOrd="0" presId="urn:microsoft.com/office/officeart/2005/8/layout/vList3"/>
    <dgm:cxn modelId="{13F1B561-9266-4F1A-A1C9-4886436467B9}" type="presParOf" srcId="{D8C8932B-01CD-4EE2-ACDB-84E8A92BE88D}" destId="{4279E1B5-AB05-4B4C-8CAD-5D46059A1328}" srcOrd="1" destOrd="0" presId="urn:microsoft.com/office/officeart/2005/8/layout/vList3"/>
    <dgm:cxn modelId="{C54AB950-C582-4C62-A35F-2B4E17D757D2}" type="presParOf" srcId="{B6C7CC36-6ED7-4264-BF1E-8DBEBAE37AE5}" destId="{3F59816D-04F7-4727-8799-705F3B39BBA5}" srcOrd="5" destOrd="0" presId="urn:microsoft.com/office/officeart/2005/8/layout/vList3"/>
    <dgm:cxn modelId="{A8AE96E8-2926-454A-A95D-BB63D2D7FC88}" type="presParOf" srcId="{B6C7CC36-6ED7-4264-BF1E-8DBEBAE37AE5}" destId="{BF8DFD91-BDA6-4060-8E8A-F158DF025D83}" srcOrd="6" destOrd="0" presId="urn:microsoft.com/office/officeart/2005/8/layout/vList3"/>
    <dgm:cxn modelId="{C044ECFD-49BA-426C-9031-4E61809D882D}" type="presParOf" srcId="{BF8DFD91-BDA6-4060-8E8A-F158DF025D83}" destId="{E7BA7773-664D-4719-9D53-A0900CB0DCC3}" srcOrd="0" destOrd="0" presId="urn:microsoft.com/office/officeart/2005/8/layout/vList3"/>
    <dgm:cxn modelId="{517A11CC-53AE-44E9-8E27-E8AEAACE59FA}" type="presParOf" srcId="{BF8DFD91-BDA6-4060-8E8A-F158DF025D83}" destId="{E821F3B9-441D-415B-907F-F6A14F86FE4D}" srcOrd="1" destOrd="0" presId="urn:microsoft.com/office/officeart/2005/8/layout/vList3"/>
    <dgm:cxn modelId="{5AF8D3C3-D6F0-497C-B034-185851DBD73A}" type="presParOf" srcId="{B6C7CC36-6ED7-4264-BF1E-8DBEBAE37AE5}" destId="{5FF7F676-8760-483E-A982-C033CF8500C2}" srcOrd="7" destOrd="0" presId="urn:microsoft.com/office/officeart/2005/8/layout/vList3"/>
    <dgm:cxn modelId="{061967DC-D20A-498E-AC51-B936572D004F}" type="presParOf" srcId="{B6C7CC36-6ED7-4264-BF1E-8DBEBAE37AE5}" destId="{99A75092-75E9-4B61-8529-44776BBE5E1E}" srcOrd="8" destOrd="0" presId="urn:microsoft.com/office/officeart/2005/8/layout/vList3"/>
    <dgm:cxn modelId="{2EAB505C-2D9A-4788-A2EF-58B4E683238A}" type="presParOf" srcId="{99A75092-75E9-4B61-8529-44776BBE5E1E}" destId="{607E3882-8E51-471E-AB5C-B8B7F83EF722}" srcOrd="0" destOrd="0" presId="urn:microsoft.com/office/officeart/2005/8/layout/vList3"/>
    <dgm:cxn modelId="{4E890563-8730-4935-ADB7-A5EA1177725E}" type="presParOf" srcId="{99A75092-75E9-4B61-8529-44776BBE5E1E}" destId="{F52DFFD7-4FC9-4E67-83AF-B0C8D9F8129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71B54-3EDF-4DAD-8C58-6E9C5443BDF9}">
      <dsp:nvSpPr>
        <dsp:cNvPr id="0" name=""/>
        <dsp:cNvSpPr/>
      </dsp:nvSpPr>
      <dsp:spPr>
        <a:xfrm rot="10800000">
          <a:off x="892353" y="1675"/>
          <a:ext cx="2993237" cy="553671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154" tIns="60960" rIns="113792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0" i="0" kern="1200" smtClean="0"/>
            <a:t>Total Revenue - $8.88M</a:t>
          </a:r>
          <a:endParaRPr lang="en-GB" sz="1600" kern="1200"/>
        </a:p>
      </dsp:txBody>
      <dsp:txXfrm rot="10800000">
        <a:off x="1030771" y="1675"/>
        <a:ext cx="2854819" cy="553671"/>
      </dsp:txXfrm>
    </dsp:sp>
    <dsp:sp modelId="{50125FCD-3ABE-4B13-ADFB-9F6F07F2DCB8}">
      <dsp:nvSpPr>
        <dsp:cNvPr id="0" name=""/>
        <dsp:cNvSpPr/>
      </dsp:nvSpPr>
      <dsp:spPr>
        <a:xfrm>
          <a:off x="615517" y="1675"/>
          <a:ext cx="553671" cy="55367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7B892-3153-461C-ACF1-51B28F543A50}">
      <dsp:nvSpPr>
        <dsp:cNvPr id="0" name=""/>
        <dsp:cNvSpPr/>
      </dsp:nvSpPr>
      <dsp:spPr>
        <a:xfrm rot="10800000">
          <a:off x="892353" y="720622"/>
          <a:ext cx="2993237" cy="553671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154" tIns="60960" rIns="113792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0" i="0" kern="1200" smtClean="0"/>
            <a:t>Gross Profit Margin- 42.50%</a:t>
          </a:r>
          <a:endParaRPr lang="en-GB" sz="1600" kern="1200"/>
        </a:p>
      </dsp:txBody>
      <dsp:txXfrm rot="10800000">
        <a:off x="1030771" y="720622"/>
        <a:ext cx="2854819" cy="553671"/>
      </dsp:txXfrm>
    </dsp:sp>
    <dsp:sp modelId="{D44F57BD-1851-4DE7-8B8D-CA7B907AD0A8}">
      <dsp:nvSpPr>
        <dsp:cNvPr id="0" name=""/>
        <dsp:cNvSpPr/>
      </dsp:nvSpPr>
      <dsp:spPr>
        <a:xfrm>
          <a:off x="615517" y="720622"/>
          <a:ext cx="553671" cy="55367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9E1B5-AB05-4B4C-8CAD-5D46059A1328}">
      <dsp:nvSpPr>
        <dsp:cNvPr id="0" name=""/>
        <dsp:cNvSpPr/>
      </dsp:nvSpPr>
      <dsp:spPr>
        <a:xfrm rot="10800000">
          <a:off x="892353" y="1439569"/>
          <a:ext cx="2993237" cy="553671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154" tIns="60960" rIns="113792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0" i="0" kern="1200" smtClean="0"/>
            <a:t>Total Shrink Value- $217.12K</a:t>
          </a:r>
          <a:endParaRPr lang="en-GB" sz="1600" kern="1200"/>
        </a:p>
      </dsp:txBody>
      <dsp:txXfrm rot="10800000">
        <a:off x="1030771" y="1439569"/>
        <a:ext cx="2854819" cy="553671"/>
      </dsp:txXfrm>
    </dsp:sp>
    <dsp:sp modelId="{6757E5CF-3C0A-46F5-88F9-115051E12E86}">
      <dsp:nvSpPr>
        <dsp:cNvPr id="0" name=""/>
        <dsp:cNvSpPr/>
      </dsp:nvSpPr>
      <dsp:spPr>
        <a:xfrm>
          <a:off x="615517" y="1439569"/>
          <a:ext cx="553671" cy="55367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1F3B9-441D-415B-907F-F6A14F86FE4D}">
      <dsp:nvSpPr>
        <dsp:cNvPr id="0" name=""/>
        <dsp:cNvSpPr/>
      </dsp:nvSpPr>
      <dsp:spPr>
        <a:xfrm rot="10800000">
          <a:off x="892353" y="2158515"/>
          <a:ext cx="2993237" cy="553671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154" tIns="60960" rIns="113792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0" i="0" kern="1200" dirty="0" smtClean="0"/>
            <a:t>Shrink Rate- 2.44%</a:t>
          </a:r>
          <a:endParaRPr lang="en-GB" sz="1600" kern="1200" dirty="0"/>
        </a:p>
      </dsp:txBody>
      <dsp:txXfrm rot="10800000">
        <a:off x="1030771" y="2158515"/>
        <a:ext cx="2854819" cy="553671"/>
      </dsp:txXfrm>
    </dsp:sp>
    <dsp:sp modelId="{E7BA7773-664D-4719-9D53-A0900CB0DCC3}">
      <dsp:nvSpPr>
        <dsp:cNvPr id="0" name=""/>
        <dsp:cNvSpPr/>
      </dsp:nvSpPr>
      <dsp:spPr>
        <a:xfrm>
          <a:off x="615517" y="2158515"/>
          <a:ext cx="553671" cy="55367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DFFD7-4FC9-4E67-83AF-B0C8D9F81295}">
      <dsp:nvSpPr>
        <dsp:cNvPr id="0" name=""/>
        <dsp:cNvSpPr/>
      </dsp:nvSpPr>
      <dsp:spPr>
        <a:xfrm rot="10800000">
          <a:off x="892353" y="2877462"/>
          <a:ext cx="2993237" cy="553671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154" tIns="60960" rIns="113792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b="0" i="0" kern="1200" smtClean="0"/>
            <a:t>Inventory Record Accuracy- 97.01%</a:t>
          </a:r>
          <a:endParaRPr lang="en-GB" sz="1600" kern="1200"/>
        </a:p>
      </dsp:txBody>
      <dsp:txXfrm rot="10800000">
        <a:off x="1030771" y="2877462"/>
        <a:ext cx="2854819" cy="553671"/>
      </dsp:txXfrm>
    </dsp:sp>
    <dsp:sp modelId="{607E3882-8E51-471E-AB5C-B8B7F83EF722}">
      <dsp:nvSpPr>
        <dsp:cNvPr id="0" name=""/>
        <dsp:cNvSpPr/>
      </dsp:nvSpPr>
      <dsp:spPr>
        <a:xfrm>
          <a:off x="615517" y="2877462"/>
          <a:ext cx="553671" cy="553671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598012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647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908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2224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904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0304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7453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0187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265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5927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678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7968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238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4541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4097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2958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3508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3559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8414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8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571500" y="381000"/>
            <a:ext cx="5943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METRO FRESH</a:t>
            </a:r>
            <a:endParaRPr sz="1400" b="1">
              <a:solidFill>
                <a:srgbClr val="F59E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71500" y="952500"/>
            <a:ext cx="7620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Shrink Loss</a:t>
            </a:r>
            <a:endParaRPr sz="68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sz="68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71500" y="3095625"/>
            <a:ext cx="4572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71500" y="3286125"/>
            <a:ext cx="8001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Data-Driven Investigation into Inventory Shrinkage,</a:t>
            </a:r>
            <a:endParaRPr sz="1600" b="0">
              <a:solidFill>
                <a:srgbClr val="D1D5D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Attribution &amp; Strategic Recovery Pathways</a:t>
            </a:r>
            <a:endParaRPr sz="1600" b="0">
              <a:solidFill>
                <a:srgbClr val="D1D5D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" name="Google Shape;18;p1"/>
          <p:cNvGrpSpPr/>
          <p:nvPr/>
        </p:nvGrpSpPr>
        <p:grpSpPr>
          <a:xfrm>
            <a:off x="571500" y="4572000"/>
            <a:ext cx="3810000" cy="381150"/>
            <a:chOff x="571500" y="4572000"/>
            <a:chExt cx="3810000" cy="381150"/>
          </a:xfrm>
        </p:grpSpPr>
        <p:sp>
          <p:nvSpPr>
            <p:cNvPr id="19" name="Google Shape;19;p1"/>
            <p:cNvSpPr/>
            <p:nvPr/>
          </p:nvSpPr>
          <p:spPr>
            <a:xfrm>
              <a:off x="571500" y="4572000"/>
              <a:ext cx="1905000" cy="19200"/>
            </a:xfrm>
            <a:prstGeom prst="rect">
              <a:avLst/>
            </a:prstGeom>
            <a:solidFill>
              <a:srgbClr val="3741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"/>
            <p:cNvSpPr txBox="1"/>
            <p:nvPr/>
          </p:nvSpPr>
          <p:spPr>
            <a:xfrm>
              <a:off x="571500" y="4667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 smtClean="0">
                  <a:solidFill>
                    <a:srgbClr val="9CA3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BY: ESMERALDA OSEI</a:t>
              </a:r>
              <a:endParaRPr sz="1600" dirty="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"/>
          <p:cNvGrpSpPr/>
          <p:nvPr/>
        </p:nvGrpSpPr>
        <p:grpSpPr>
          <a:xfrm>
            <a:off x="0" y="285750"/>
            <a:ext cx="9144000" cy="445650"/>
            <a:chOff x="0" y="285750"/>
            <a:chExt cx="9144000" cy="445650"/>
          </a:xfrm>
        </p:grpSpPr>
        <p:sp>
          <p:nvSpPr>
            <p:cNvPr id="27" name="Google Shape;27;p2"/>
            <p:cNvSpPr/>
            <p:nvPr/>
          </p:nvSpPr>
          <p:spPr>
            <a:xfrm>
              <a:off x="0" y="685800"/>
              <a:ext cx="9144000" cy="456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 txBox="1"/>
            <p:nvPr/>
          </p:nvSpPr>
          <p:spPr>
            <a:xfrm>
              <a:off x="571500" y="28575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CA3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COMPANY OVERVIEW</a:t>
              </a:r>
              <a:endParaRPr sz="11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571500" y="809625"/>
            <a:ext cx="8001000" cy="704850"/>
            <a:chOff x="571500" y="809625"/>
            <a:chExt cx="8001000" cy="704850"/>
          </a:xfrm>
        </p:grpSpPr>
        <p:sp>
          <p:nvSpPr>
            <p:cNvPr id="30" name="Google Shape;30;p2"/>
            <p:cNvSpPr txBox="1"/>
            <p:nvPr/>
          </p:nvSpPr>
          <p:spPr>
            <a:xfrm>
              <a:off x="571500" y="809625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70"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Metro Fresh Enterprise</a:t>
              </a:r>
              <a:endParaRPr sz="357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71500" y="1476375"/>
              <a:ext cx="41148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2"/>
          <p:cNvSpPr txBox="1"/>
          <p:nvPr/>
        </p:nvSpPr>
        <p:spPr>
          <a:xfrm>
            <a:off x="571500" y="1666875"/>
            <a:ext cx="8001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multi-format convenience retail chain operating across diverse locations, stocking a wide range of goods across 15+ categories and serving thousands of daily transactions.</a:t>
            </a:r>
            <a:endParaRPr sz="1300" b="0">
              <a:solidFill>
                <a:srgbClr val="D1D5D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" name="Google Shape;33;p2"/>
          <p:cNvGrpSpPr/>
          <p:nvPr/>
        </p:nvGrpSpPr>
        <p:grpSpPr>
          <a:xfrm>
            <a:off x="571500" y="2333625"/>
            <a:ext cx="8001000" cy="1047900"/>
            <a:chOff x="571500" y="2333625"/>
            <a:chExt cx="8001000" cy="1047900"/>
          </a:xfrm>
        </p:grpSpPr>
        <p:sp>
          <p:nvSpPr>
            <p:cNvPr id="34" name="Google Shape;34;p2"/>
            <p:cNvSpPr/>
            <p:nvPr/>
          </p:nvSpPr>
          <p:spPr>
            <a:xfrm>
              <a:off x="571500" y="2333625"/>
              <a:ext cx="1905000" cy="1047900"/>
            </a:xfrm>
            <a:prstGeom prst="roundRect">
              <a:avLst>
                <a:gd name="adj" fmla="val 363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 txBox="1"/>
            <p:nvPr/>
          </p:nvSpPr>
          <p:spPr>
            <a:xfrm>
              <a:off x="571500" y="2333625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 smtClean="0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$</a:t>
              </a:r>
              <a:r>
                <a:rPr lang="en-US" sz="2400" b="1" dirty="0" smtClean="0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8.88M</a:t>
              </a:r>
              <a:r>
                <a:rPr lang="en-US" sz="2400" b="1" dirty="0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endParaRPr sz="2400" b="1" dirty="0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rgbClr val="9CA3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 Revenue</a:t>
              </a:r>
              <a:endParaRPr sz="1000" dirty="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600325" y="2333625"/>
              <a:ext cx="1905000" cy="1047900"/>
            </a:xfrm>
            <a:prstGeom prst="roundRect">
              <a:avLst>
                <a:gd name="adj" fmla="val 363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 txBox="1"/>
            <p:nvPr/>
          </p:nvSpPr>
          <p:spPr>
            <a:xfrm>
              <a:off x="2600325" y="2333625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50+</a:t>
              </a:r>
              <a:endParaRPr sz="24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CA3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 Locations</a:t>
              </a:r>
              <a:endParaRPr sz="10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629150" y="2333625"/>
              <a:ext cx="1905000" cy="1047900"/>
            </a:xfrm>
            <a:prstGeom prst="roundRect">
              <a:avLst>
                <a:gd name="adj" fmla="val 363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 txBox="1"/>
            <p:nvPr/>
          </p:nvSpPr>
          <p:spPr>
            <a:xfrm>
              <a:off x="4629150" y="2333625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15+</a:t>
              </a:r>
              <a:endParaRPr sz="24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CA3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 Categories</a:t>
              </a:r>
              <a:endParaRPr sz="10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667500" y="2333625"/>
              <a:ext cx="1905000" cy="1047900"/>
            </a:xfrm>
            <a:prstGeom prst="roundRect">
              <a:avLst>
                <a:gd name="adj" fmla="val 363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 txBox="1"/>
            <p:nvPr/>
          </p:nvSpPr>
          <p:spPr>
            <a:xfrm>
              <a:off x="6667500" y="2333625"/>
              <a:ext cx="1905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24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CA3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 Formats</a:t>
              </a:r>
              <a:endParaRPr sz="10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" name="Google Shape;42;p2"/>
          <p:cNvGrpSpPr/>
          <p:nvPr/>
        </p:nvGrpSpPr>
        <p:grpSpPr>
          <a:xfrm>
            <a:off x="571500" y="3571875"/>
            <a:ext cx="8000925" cy="1333500"/>
            <a:chOff x="571500" y="3571875"/>
            <a:chExt cx="8000925" cy="1333500"/>
          </a:xfrm>
        </p:grpSpPr>
        <p:sp>
          <p:nvSpPr>
            <p:cNvPr id="43" name="Google Shape;43;p2"/>
            <p:cNvSpPr/>
            <p:nvPr/>
          </p:nvSpPr>
          <p:spPr>
            <a:xfrm>
              <a:off x="571500" y="3571875"/>
              <a:ext cx="3952800" cy="1333500"/>
            </a:xfrm>
            <a:prstGeom prst="roundRect">
              <a:avLst>
                <a:gd name="adj" fmla="val 2857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71500" y="3571875"/>
              <a:ext cx="38100" cy="13335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 txBox="1"/>
            <p:nvPr/>
          </p:nvSpPr>
          <p:spPr>
            <a:xfrm>
              <a:off x="762000" y="3571875"/>
              <a:ext cx="3571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 Network</a:t>
              </a:r>
              <a:endParaRPr sz="13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Operations span Urban (48%), Suburban (35%), Highway (10%), and Rural (7%) formats — each presenting unique risk profiles.</a:t>
              </a:r>
              <a:endParaRPr sz="11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619625" y="3571875"/>
              <a:ext cx="3952800" cy="1333500"/>
            </a:xfrm>
            <a:prstGeom prst="roundRect">
              <a:avLst>
                <a:gd name="adj" fmla="val 2857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619625" y="3571875"/>
              <a:ext cx="38100" cy="13335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 txBox="1"/>
            <p:nvPr/>
          </p:nvSpPr>
          <p:spPr>
            <a:xfrm>
              <a:off x="4810125" y="3571875"/>
              <a:ext cx="3571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Scope</a:t>
              </a:r>
              <a:endParaRPr sz="13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Analysis covers inventory records, shrink transactions, shift logs, cause attribution, and category-level KPIs across the full period.</a:t>
              </a:r>
              <a:endParaRPr sz="11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320100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3"/>
          <p:cNvGrpSpPr/>
          <p:nvPr/>
        </p:nvGrpSpPr>
        <p:grpSpPr>
          <a:xfrm>
            <a:off x="594360" y="476250"/>
            <a:ext cx="8229600" cy="1085850"/>
            <a:chOff x="594360" y="476250"/>
            <a:chExt cx="8229600" cy="1085850"/>
          </a:xfrm>
        </p:grpSpPr>
        <p:sp>
          <p:nvSpPr>
            <p:cNvPr id="56" name="Google Shape;56;p3"/>
            <p:cNvSpPr txBox="1"/>
            <p:nvPr/>
          </p:nvSpPr>
          <p:spPr>
            <a:xfrm>
              <a:off x="594360" y="47625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CA3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  <a:endParaRPr sz="11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594360" y="85725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70"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Shrink &amp; Loss Context</a:t>
              </a:r>
              <a:endParaRPr sz="357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360" y="1524000"/>
              <a:ext cx="41148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3"/>
          <p:cNvSpPr txBox="1"/>
          <p:nvPr/>
        </p:nvSpPr>
        <p:spPr>
          <a:xfrm>
            <a:off x="594360" y="1714500"/>
            <a:ext cx="7955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dirty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Metro Fresh is experiencing persistent inventory shrinkage across its store network, representing a material financial drain against total revenue. Despite recording over </a:t>
            </a:r>
            <a:r>
              <a:rPr lang="en-US" sz="1300" dirty="0" smtClean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$8.88</a:t>
            </a:r>
            <a:r>
              <a:rPr lang="en-US" sz="1300" b="0" dirty="0" smtClean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US" sz="1300" b="0" dirty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sales, shrink losses remain substantial and unevenly distributed — with no consistent, data-driven mechanism to identify, attribute, or reduce these losses.</a:t>
            </a:r>
            <a:endParaRPr sz="1300" b="0" dirty="0">
              <a:solidFill>
                <a:srgbClr val="D1D5D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0" name="Google Shape;60;p3"/>
          <p:cNvGrpSpPr/>
          <p:nvPr/>
        </p:nvGrpSpPr>
        <p:grpSpPr>
          <a:xfrm>
            <a:off x="594360" y="2571750"/>
            <a:ext cx="3810000" cy="1047900"/>
            <a:chOff x="594360" y="2571750"/>
            <a:chExt cx="3810000" cy="1047900"/>
          </a:xfrm>
        </p:grpSpPr>
        <p:sp>
          <p:nvSpPr>
            <p:cNvPr id="61" name="Google Shape;61;p3"/>
            <p:cNvSpPr/>
            <p:nvPr/>
          </p:nvSpPr>
          <p:spPr>
            <a:xfrm>
              <a:off x="594360" y="2571750"/>
              <a:ext cx="3810000" cy="1047900"/>
            </a:xfrm>
            <a:prstGeom prst="roundRect">
              <a:avLst>
                <a:gd name="adj" fmla="val 363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594360" y="2571750"/>
              <a:ext cx="38100" cy="10479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 txBox="1"/>
            <p:nvPr/>
          </p:nvSpPr>
          <p:spPr>
            <a:xfrm>
              <a:off x="784860" y="257175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Shrink Exceeds Target</a:t>
              </a:r>
              <a:endParaRPr sz="13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Multiple high-value categories consistently breach shrink rate targets with no corrective action triggered.</a:t>
              </a:r>
              <a:endParaRPr sz="105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4" name="Google Shape;64;p3"/>
          <p:cNvGrpSpPr/>
          <p:nvPr/>
        </p:nvGrpSpPr>
        <p:grpSpPr>
          <a:xfrm>
            <a:off x="4739640" y="2571750"/>
            <a:ext cx="3810000" cy="1047900"/>
            <a:chOff x="4739640" y="2571750"/>
            <a:chExt cx="3810000" cy="1047900"/>
          </a:xfrm>
        </p:grpSpPr>
        <p:sp>
          <p:nvSpPr>
            <p:cNvPr id="65" name="Google Shape;65;p3"/>
            <p:cNvSpPr/>
            <p:nvPr/>
          </p:nvSpPr>
          <p:spPr>
            <a:xfrm>
              <a:off x="4739640" y="2571750"/>
              <a:ext cx="3810000" cy="1047900"/>
            </a:xfrm>
            <a:prstGeom prst="roundRect">
              <a:avLst>
                <a:gd name="adj" fmla="val 363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739640" y="2571750"/>
              <a:ext cx="38100" cy="10479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 txBox="1"/>
            <p:nvPr/>
          </p:nvSpPr>
          <p:spPr>
            <a:xfrm>
              <a:off x="4930140" y="257175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Unclear Loss Attribution</a:t>
              </a:r>
              <a:endParaRPr sz="13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Losses split across expiry, damage, theft, and staff consumption with no prioritised response framework.</a:t>
              </a:r>
              <a:endParaRPr sz="105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8" name="Google Shape;68;p3"/>
          <p:cNvGrpSpPr/>
          <p:nvPr/>
        </p:nvGrpSpPr>
        <p:grpSpPr>
          <a:xfrm>
            <a:off x="594360" y="3810000"/>
            <a:ext cx="3810000" cy="1047900"/>
            <a:chOff x="594360" y="3810000"/>
            <a:chExt cx="3810000" cy="1047900"/>
          </a:xfrm>
        </p:grpSpPr>
        <p:sp>
          <p:nvSpPr>
            <p:cNvPr id="69" name="Google Shape;69;p3"/>
            <p:cNvSpPr/>
            <p:nvPr/>
          </p:nvSpPr>
          <p:spPr>
            <a:xfrm>
              <a:off x="594360" y="3810000"/>
              <a:ext cx="3810000" cy="1047900"/>
            </a:xfrm>
            <a:prstGeom prst="roundRect">
              <a:avLst>
                <a:gd name="adj" fmla="val 363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94360" y="3810000"/>
              <a:ext cx="38100" cy="10479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 txBox="1"/>
            <p:nvPr/>
          </p:nvSpPr>
          <p:spPr>
            <a:xfrm>
              <a:off x="784860" y="38100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Inventory Discrepancies</a:t>
              </a:r>
              <a:endParaRPr sz="13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Large gaps between expected and actual SKU-level inventory signal systemic record-keeping or process failures.</a:t>
              </a:r>
              <a:endParaRPr sz="105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2" name="Google Shape;72;p3"/>
          <p:cNvGrpSpPr/>
          <p:nvPr/>
        </p:nvGrpSpPr>
        <p:grpSpPr>
          <a:xfrm>
            <a:off x="4739640" y="3810000"/>
            <a:ext cx="3810000" cy="1047900"/>
            <a:chOff x="4739640" y="3810000"/>
            <a:chExt cx="3810000" cy="1047900"/>
          </a:xfrm>
        </p:grpSpPr>
        <p:sp>
          <p:nvSpPr>
            <p:cNvPr id="73" name="Google Shape;73;p3"/>
            <p:cNvSpPr/>
            <p:nvPr/>
          </p:nvSpPr>
          <p:spPr>
            <a:xfrm>
              <a:off x="4739640" y="3810000"/>
              <a:ext cx="3810000" cy="1047900"/>
            </a:xfrm>
            <a:prstGeom prst="roundRect">
              <a:avLst>
                <a:gd name="adj" fmla="val 363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739640" y="3810000"/>
              <a:ext cx="38100" cy="10479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 txBox="1"/>
            <p:nvPr/>
          </p:nvSpPr>
          <p:spPr>
            <a:xfrm>
              <a:off x="4930140" y="3810000"/>
              <a:ext cx="34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Store-Level Concentration</a:t>
              </a:r>
              <a:endParaRPr sz="13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small subset of stores drives a disproportionate share of total shrink, indicating localised control gaps.</a:t>
              </a:r>
              <a:endParaRPr sz="105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0" y="0"/>
            <a:ext cx="320100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4"/>
          <p:cNvGrpSpPr/>
          <p:nvPr/>
        </p:nvGrpSpPr>
        <p:grpSpPr>
          <a:xfrm>
            <a:off x="594360" y="476250"/>
            <a:ext cx="8229600" cy="1085850"/>
            <a:chOff x="594360" y="476250"/>
            <a:chExt cx="8229600" cy="1085850"/>
          </a:xfrm>
        </p:grpSpPr>
        <p:sp>
          <p:nvSpPr>
            <p:cNvPr id="83" name="Google Shape;83;p4"/>
            <p:cNvSpPr txBox="1"/>
            <p:nvPr/>
          </p:nvSpPr>
          <p:spPr>
            <a:xfrm>
              <a:off x="594360" y="47625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CA3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ANALYTICAL OBJECTIVES</a:t>
              </a:r>
              <a:endParaRPr sz="1100" b="1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84;p4"/>
            <p:cNvSpPr txBox="1"/>
            <p:nvPr/>
          </p:nvSpPr>
          <p:spPr>
            <a:xfrm>
              <a:off x="594360" y="85725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70"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Operational Research Framework</a:t>
              </a:r>
              <a:endParaRPr sz="357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594360" y="1524000"/>
              <a:ext cx="41148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4"/>
          <p:cNvSpPr txBox="1"/>
          <p:nvPr/>
        </p:nvSpPr>
        <p:spPr>
          <a:xfrm>
            <a:off x="594360" y="1714500"/>
            <a:ext cx="7955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analysis was designed to answer six core operational questions to drive strategic mitigation:</a:t>
            </a:r>
            <a:endParaRPr sz="1300" b="0">
              <a:solidFill>
                <a:srgbClr val="D1D5D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" name="Google Shape;87;p4"/>
          <p:cNvGrpSpPr/>
          <p:nvPr/>
        </p:nvGrpSpPr>
        <p:grpSpPr>
          <a:xfrm>
            <a:off x="594360" y="2286000"/>
            <a:ext cx="2571900" cy="1143000"/>
            <a:chOff x="594360" y="2286000"/>
            <a:chExt cx="2571900" cy="1143000"/>
          </a:xfrm>
        </p:grpSpPr>
        <p:sp>
          <p:nvSpPr>
            <p:cNvPr id="88" name="Google Shape;88;p4"/>
            <p:cNvSpPr/>
            <p:nvPr/>
          </p:nvSpPr>
          <p:spPr>
            <a:xfrm>
              <a:off x="594360" y="2286000"/>
              <a:ext cx="2571900" cy="1143000"/>
            </a:xfrm>
            <a:prstGeom prst="roundRect">
              <a:avLst>
                <a:gd name="adj" fmla="val 3333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594360" y="2286000"/>
              <a:ext cx="38100" cy="1143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 txBox="1"/>
            <p:nvPr/>
          </p:nvSpPr>
          <p:spPr>
            <a:xfrm>
              <a:off x="784860" y="22860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01. WHERE</a:t>
              </a:r>
              <a:endParaRPr sz="1000" b="1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Where is shrink happening?</a:t>
              </a:r>
              <a:endParaRPr sz="12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Identify which stores, formats, and categories carry the highest loss burden.</a:t>
              </a:r>
              <a:endParaRPr sz="10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1" name="Google Shape;91;p4"/>
          <p:cNvGrpSpPr/>
          <p:nvPr/>
        </p:nvGrpSpPr>
        <p:grpSpPr>
          <a:xfrm>
            <a:off x="3356610" y="2286000"/>
            <a:ext cx="2571900" cy="1143000"/>
            <a:chOff x="3356610" y="2286000"/>
            <a:chExt cx="2571900" cy="1143000"/>
          </a:xfrm>
        </p:grpSpPr>
        <p:sp>
          <p:nvSpPr>
            <p:cNvPr id="92" name="Google Shape;92;p4"/>
            <p:cNvSpPr/>
            <p:nvPr/>
          </p:nvSpPr>
          <p:spPr>
            <a:xfrm>
              <a:off x="3356610" y="2286000"/>
              <a:ext cx="2571900" cy="1143000"/>
            </a:xfrm>
            <a:prstGeom prst="roundRect">
              <a:avLst>
                <a:gd name="adj" fmla="val 3333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356610" y="2286000"/>
              <a:ext cx="38100" cy="1143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3547110" y="22860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02. WHY</a:t>
              </a:r>
              <a:endParaRPr sz="1000" b="1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is shrink happening?</a:t>
              </a:r>
              <a:endParaRPr sz="12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Attribute losses by root cause: expiry, damage, theft, employee consumption.</a:t>
              </a:r>
              <a:endParaRPr sz="10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5" name="Google Shape;95;p4"/>
          <p:cNvGrpSpPr/>
          <p:nvPr/>
        </p:nvGrpSpPr>
        <p:grpSpPr>
          <a:xfrm>
            <a:off x="6118860" y="2286000"/>
            <a:ext cx="2571900" cy="1143000"/>
            <a:chOff x="6118860" y="2286000"/>
            <a:chExt cx="2571900" cy="1143000"/>
          </a:xfrm>
        </p:grpSpPr>
        <p:sp>
          <p:nvSpPr>
            <p:cNvPr id="96" name="Google Shape;96;p4"/>
            <p:cNvSpPr/>
            <p:nvPr/>
          </p:nvSpPr>
          <p:spPr>
            <a:xfrm>
              <a:off x="6118860" y="2286000"/>
              <a:ext cx="2571900" cy="1143000"/>
            </a:xfrm>
            <a:prstGeom prst="roundRect">
              <a:avLst>
                <a:gd name="adj" fmla="val 3333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6118860" y="2286000"/>
              <a:ext cx="38100" cy="1143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 txBox="1"/>
            <p:nvPr/>
          </p:nvSpPr>
          <p:spPr>
            <a:xfrm>
              <a:off x="6309360" y="22860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03. WHEN</a:t>
              </a:r>
              <a:endParaRPr sz="1000" b="1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does shrink peak?</a:t>
              </a:r>
              <a:endParaRPr sz="12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Analyse daily and monthly trends to detect temporal patterns and spikes.</a:t>
              </a:r>
              <a:endParaRPr sz="10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9" name="Google Shape;99;p4"/>
          <p:cNvGrpSpPr/>
          <p:nvPr/>
        </p:nvGrpSpPr>
        <p:grpSpPr>
          <a:xfrm>
            <a:off x="594360" y="3619500"/>
            <a:ext cx="2571900" cy="1143000"/>
            <a:chOff x="594360" y="3619500"/>
            <a:chExt cx="2571900" cy="1143000"/>
          </a:xfrm>
        </p:grpSpPr>
        <p:sp>
          <p:nvSpPr>
            <p:cNvPr id="100" name="Google Shape;100;p4"/>
            <p:cNvSpPr/>
            <p:nvPr/>
          </p:nvSpPr>
          <p:spPr>
            <a:xfrm>
              <a:off x="594360" y="3619500"/>
              <a:ext cx="2571900" cy="1143000"/>
            </a:xfrm>
            <a:prstGeom prst="roundRect">
              <a:avLst>
                <a:gd name="adj" fmla="val 3333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94360" y="3619500"/>
              <a:ext cx="38100" cy="1143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 txBox="1"/>
            <p:nvPr/>
          </p:nvSpPr>
          <p:spPr>
            <a:xfrm>
              <a:off x="784860" y="36195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04. TARGETS</a:t>
              </a:r>
              <a:endParaRPr sz="1000" b="1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Are targets being met?</a:t>
              </a:r>
              <a:endParaRPr sz="12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Compare actual vs target shrink rates across all product categories.</a:t>
              </a:r>
              <a:endParaRPr sz="10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3" name="Google Shape;103;p4"/>
          <p:cNvGrpSpPr/>
          <p:nvPr/>
        </p:nvGrpSpPr>
        <p:grpSpPr>
          <a:xfrm>
            <a:off x="3356610" y="3619500"/>
            <a:ext cx="2571900" cy="1143000"/>
            <a:chOff x="3356610" y="3619500"/>
            <a:chExt cx="2571900" cy="1143000"/>
          </a:xfrm>
        </p:grpSpPr>
        <p:sp>
          <p:nvSpPr>
            <p:cNvPr id="104" name="Google Shape;104;p4"/>
            <p:cNvSpPr/>
            <p:nvPr/>
          </p:nvSpPr>
          <p:spPr>
            <a:xfrm>
              <a:off x="3356610" y="3619500"/>
              <a:ext cx="2571900" cy="1143000"/>
            </a:xfrm>
            <a:prstGeom prst="roundRect">
              <a:avLst>
                <a:gd name="adj" fmla="val 3333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3356610" y="3619500"/>
              <a:ext cx="38100" cy="1143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3547110" y="36195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05. ACCURACY</a:t>
              </a:r>
              <a:endParaRPr sz="1000" b="1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 inventory accurately tracked?</a:t>
              </a:r>
              <a:endParaRPr sz="12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Assess record accuracy and variance between expected and actual stock levels.</a:t>
              </a:r>
              <a:endParaRPr sz="10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7" name="Google Shape;107;p4"/>
          <p:cNvGrpSpPr/>
          <p:nvPr/>
        </p:nvGrpSpPr>
        <p:grpSpPr>
          <a:xfrm>
            <a:off x="6118860" y="3619500"/>
            <a:ext cx="2571900" cy="1143000"/>
            <a:chOff x="6118860" y="3619500"/>
            <a:chExt cx="2571900" cy="1143000"/>
          </a:xfrm>
        </p:grpSpPr>
        <p:sp>
          <p:nvSpPr>
            <p:cNvPr id="108" name="Google Shape;108;p4"/>
            <p:cNvSpPr/>
            <p:nvPr/>
          </p:nvSpPr>
          <p:spPr>
            <a:xfrm>
              <a:off x="6118860" y="3619500"/>
              <a:ext cx="2571900" cy="1143000"/>
            </a:xfrm>
            <a:prstGeom prst="roundRect">
              <a:avLst>
                <a:gd name="adj" fmla="val 3333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6118860" y="3619500"/>
              <a:ext cx="38100" cy="11430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 txBox="1"/>
            <p:nvPr/>
          </p:nvSpPr>
          <p:spPr>
            <a:xfrm>
              <a:off x="6309360" y="3619500"/>
              <a:ext cx="2190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F59E0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06. ACTION</a:t>
              </a:r>
              <a:endParaRPr sz="1000" b="1">
                <a:solidFill>
                  <a:srgbClr val="F59E0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CD34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actions can reduce loss?</a:t>
              </a:r>
              <a:endParaRPr sz="1200" b="1">
                <a:solidFill>
                  <a:srgbClr val="FCD34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D1D5D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Translate data findings into prioritised, actionable recommendations.</a:t>
              </a:r>
              <a:endParaRPr sz="1000" b="0">
                <a:solidFill>
                  <a:srgbClr val="D1D5D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REPORT  OVERVIEW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62" y="790579"/>
            <a:ext cx="8998476" cy="4258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5;p6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26;p6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27;p6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KPI Cards — Headline Performance Metrics</a:t>
            </a:r>
            <a:endParaRPr sz="2000" b="1" i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Google Shape;128;p6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29;p6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KPI</a:t>
            </a:r>
            <a:endParaRPr sz="1000" b="1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Google Shape;131;p6"/>
          <p:cNvSpPr/>
          <p:nvPr/>
        </p:nvSpPr>
        <p:spPr>
          <a:xfrm>
            <a:off x="5532120" y="914400"/>
            <a:ext cx="3246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Google Shape;132;p6"/>
          <p:cNvSpPr/>
          <p:nvPr/>
        </p:nvSpPr>
        <p:spPr>
          <a:xfrm>
            <a:off x="5532120" y="1234440"/>
            <a:ext cx="3246000" cy="36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oogle Shape;133;p6"/>
          <p:cNvGrpSpPr/>
          <p:nvPr/>
        </p:nvGrpSpPr>
        <p:grpSpPr>
          <a:xfrm>
            <a:off x="5532120" y="1238250"/>
            <a:ext cx="3246000" cy="3429000"/>
            <a:chOff x="5532120" y="1238250"/>
            <a:chExt cx="3246000" cy="3429000"/>
          </a:xfrm>
        </p:grpSpPr>
        <p:sp>
          <p:nvSpPr>
            <p:cNvPr id="10" name="Google Shape;134;p6"/>
            <p:cNvSpPr/>
            <p:nvPr/>
          </p:nvSpPr>
          <p:spPr>
            <a:xfrm>
              <a:off x="5532120" y="1238250"/>
              <a:ext cx="3246000" cy="3429000"/>
            </a:xfrm>
            <a:prstGeom prst="roundRect">
              <a:avLst>
                <a:gd name="adj" fmla="val 2347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5;p6"/>
            <p:cNvSpPr/>
            <p:nvPr/>
          </p:nvSpPr>
          <p:spPr>
            <a:xfrm>
              <a:off x="553212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6;p6"/>
            <p:cNvSpPr txBox="1"/>
            <p:nvPr/>
          </p:nvSpPr>
          <p:spPr>
            <a:xfrm>
              <a:off x="5722620" y="1381125"/>
              <a:ext cx="2857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Revenue &amp; Profit: </a:t>
              </a:r>
              <a:r>
                <a:rPr lang="en-US" sz="1100" b="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$8.88M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total revenue with </a:t>
              </a:r>
              <a:r>
                <a:rPr lang="en-US" sz="1100" b="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42.50%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gross profit — the financial baseline against which all shrink impact is measured.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Total Shrink Value </a:t>
              </a:r>
              <a:r>
                <a:rPr lang="en-US" sz="1100" b="1" dirty="0" smtClean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($217.12K</a:t>
              </a: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):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Red conditional formatting is a direct visual alert. Executives immediately see that shrink has exceeded acceptable levels.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Shrink Rate </a:t>
              </a:r>
              <a:r>
                <a:rPr lang="en-US" sz="1100" b="1" dirty="0" smtClean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(2.44</a:t>
              </a: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%):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1.04pp above the 1.40% chain target and above the 1.8% industry benchmark. </a:t>
              </a:r>
              <a:r>
                <a:rPr lang="en-US" sz="1100" dirty="0" smtClean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This</a:t>
              </a:r>
              <a:r>
                <a:rPr lang="en-US" sz="1100" b="0" dirty="0" smtClean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confirms this is the </a:t>
              </a:r>
              <a:r>
                <a:rPr lang="en-US" sz="1100" b="0" dirty="0">
                  <a:solidFill>
                    <a:schemeClr val="tx1"/>
                  </a:solidFill>
                  <a:latin typeface="Inter"/>
                  <a:ea typeface="Inter"/>
                  <a:cs typeface="Inter"/>
                  <a:sym typeface="Inter"/>
                </a:rPr>
                <a:t>core performance problem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requiring prioritised action.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Inventory Accuracy (green — 97.01%):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Green formatting confirms above the 92% target — one of the few </a:t>
              </a:r>
              <a:r>
                <a:rPr lang="en-US" sz="1100" b="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positive signals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on the dashboard.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263843957"/>
              </p:ext>
            </p:extLst>
          </p:nvPr>
        </p:nvGraphicFramePr>
        <p:xfrm>
          <a:off x="263237" y="1234440"/>
          <a:ext cx="4501109" cy="3432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130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Monthly Revenue vs Shrink Loss Trend</a:t>
            </a:r>
            <a:endParaRPr sz="2000" b="1" i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TREND</a:t>
            </a:r>
            <a:endParaRPr sz="1000" b="1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532120" y="914400"/>
            <a:ext cx="3246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532120" y="1234440"/>
            <a:ext cx="3246000" cy="36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6"/>
          <p:cNvGrpSpPr/>
          <p:nvPr/>
        </p:nvGrpSpPr>
        <p:grpSpPr>
          <a:xfrm>
            <a:off x="5532120" y="1238250"/>
            <a:ext cx="3246000" cy="3429000"/>
            <a:chOff x="5532120" y="1238250"/>
            <a:chExt cx="3246000" cy="3429000"/>
          </a:xfrm>
        </p:grpSpPr>
        <p:sp>
          <p:nvSpPr>
            <p:cNvPr id="134" name="Google Shape;134;p6"/>
            <p:cNvSpPr/>
            <p:nvPr/>
          </p:nvSpPr>
          <p:spPr>
            <a:xfrm>
              <a:off x="5532120" y="1238250"/>
              <a:ext cx="3246000" cy="3429000"/>
            </a:xfrm>
            <a:prstGeom prst="roundRect">
              <a:avLst>
                <a:gd name="adj" fmla="val 2347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553212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5722620" y="1381125"/>
              <a:ext cx="2857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Revenue Stability: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Revenue ranged between </a:t>
              </a:r>
              <a:r>
                <a:rPr lang="en-US" sz="1100" b="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£1.37M and £1.51M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— relatively stable across the period.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Shrink Reduction: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Shrink loss fell from </a:t>
              </a:r>
              <a:r>
                <a:rPr lang="en-US" sz="1100" b="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£43K (Nov) to £29K (Feb)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— a 33% reduction over 6 months.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Trend Analysis: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downward shrink trend is a </a:t>
              </a:r>
              <a:r>
                <a:rPr lang="en-US" sz="1100" b="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positive signal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but has not yet fully </a:t>
              </a:r>
              <a:r>
                <a:rPr lang="en-US" sz="1100" b="0" dirty="0" smtClean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stabilized.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Risk Factors: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Peak shrink in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November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aligns with high footfall, raising theft and expiry risk in busy periods.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37" y="1234441"/>
            <a:ext cx="5264883" cy="3290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Top 5 Stores by Shrink Loss</a:t>
            </a:r>
            <a:endParaRPr sz="1800" b="1" i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STORES</a:t>
            </a:r>
            <a:endParaRPr sz="1000" b="1" i="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334000" y="914400"/>
            <a:ext cx="3246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 i="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334000" y="1234440"/>
            <a:ext cx="3444300" cy="36600"/>
          </a:xfrm>
          <a:prstGeom prst="rect">
            <a:avLst/>
          </a:prstGeom>
          <a:solidFill>
            <a:srgbClr val="F59E0B"/>
          </a:solidFill>
          <a:ln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8"/>
          <p:cNvGrpSpPr/>
          <p:nvPr/>
        </p:nvGrpSpPr>
        <p:grpSpPr>
          <a:xfrm>
            <a:off x="5334000" y="1238250"/>
            <a:ext cx="3444300" cy="3429000"/>
            <a:chOff x="5334000" y="1238250"/>
            <a:chExt cx="3444300" cy="3429000"/>
          </a:xfrm>
        </p:grpSpPr>
        <p:sp>
          <p:nvSpPr>
            <p:cNvPr id="167" name="Google Shape;167;p8"/>
            <p:cNvSpPr/>
            <p:nvPr/>
          </p:nvSpPr>
          <p:spPr>
            <a:xfrm>
              <a:off x="5334000" y="1238250"/>
              <a:ext cx="34443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5334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 txBox="1"/>
            <p:nvPr/>
          </p:nvSpPr>
          <p:spPr>
            <a:xfrm>
              <a:off x="5524500" y="1381125"/>
              <a:ext cx="3063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Top Performer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dirty="0" err="1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MetroFresh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 #0050 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is the 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highest-loss store 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at £12.7K — 41% more than the 5th-ranked store.</a:t>
              </a:r>
              <a:endParaRPr sz="110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Concentration: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top 5 stores collectively drive a significant concentration of total network shrink.</a:t>
              </a:r>
              <a:endParaRPr sz="1100" b="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Urgent Review: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Stores #0008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and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#0027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are closely matched at £10.9K and £10.7K — both require urgent review.</a:t>
              </a:r>
              <a:endParaRPr sz="1100" b="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Insight: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Loss concentration suggests controllable store-level process failures rather than systemic issues.</a:t>
              </a:r>
              <a:endParaRPr sz="1100" b="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91" y="1271040"/>
            <a:ext cx="4967710" cy="3396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Shrink Loss Distribution by Store Format</a:t>
            </a:r>
            <a:endParaRPr sz="1800" b="1" i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FORMAT</a:t>
            </a:r>
            <a:endParaRPr sz="1000" b="1" i="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334000" y="914400"/>
            <a:ext cx="3246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ANALYSIS SUMMARY</a:t>
            </a:r>
            <a:endParaRPr sz="1200" b="1" i="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334000" y="1234440"/>
            <a:ext cx="3444300" cy="36600"/>
          </a:xfrm>
          <a:prstGeom prst="rect">
            <a:avLst/>
          </a:prstGeom>
          <a:solidFill>
            <a:srgbClr val="F59E0B"/>
          </a:solidFill>
          <a:ln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149;p7"/>
          <p:cNvGrpSpPr/>
          <p:nvPr/>
        </p:nvGrpSpPr>
        <p:grpSpPr>
          <a:xfrm>
            <a:off x="5334000" y="1238250"/>
            <a:ext cx="3444300" cy="3429000"/>
            <a:chOff x="5334000" y="1238250"/>
            <a:chExt cx="3444300" cy="3429000"/>
          </a:xfrm>
        </p:grpSpPr>
        <p:sp>
          <p:nvSpPr>
            <p:cNvPr id="150" name="Google Shape;150;p7"/>
            <p:cNvSpPr/>
            <p:nvPr/>
          </p:nvSpPr>
          <p:spPr>
            <a:xfrm>
              <a:off x="5334000" y="1238250"/>
              <a:ext cx="34443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5334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 txBox="1"/>
            <p:nvPr/>
          </p:nvSpPr>
          <p:spPr>
            <a:xfrm>
              <a:off x="5524500" y="1381125"/>
              <a:ext cx="3063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Urban Dominance: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Urban stores 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account for 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48.39% 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of all shrink — the single largest segment in the network.</a:t>
              </a:r>
              <a:endParaRPr sz="110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Suburban Volume: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Suburban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stores contribute 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34.45%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, reflecting higher transaction volumes in residential areas.</a:t>
              </a:r>
              <a:endParaRPr sz="110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Minor Segments: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Highway (9.92%) 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and 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rural (7.24%)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formats show lower absolute loss but may have lower oversight.</a:t>
              </a:r>
              <a:endParaRPr sz="110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highlight>
                    <a:srgbClr val="FEF3C7"/>
                  </a:highlight>
                  <a:latin typeface="Inter"/>
                  <a:ea typeface="Inter"/>
                  <a:cs typeface="Inter"/>
                  <a:sym typeface="Inter"/>
                </a:rPr>
                <a:t>Action Required:</a:t>
              </a:r>
              <a:r>
                <a:rPr lang="en-US" sz="110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Urban shrink concentration warrants dedicated loss prevention resources in city-format locations.</a:t>
              </a:r>
              <a:endParaRPr sz="1100" dirty="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 t="495" b="495"/>
          <a:stretch/>
        </p:blipFill>
        <p:spPr>
          <a:xfrm>
            <a:off x="365760" y="12382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334000" y="1234440"/>
            <a:ext cx="3444300" cy="36600"/>
          </a:xfrm>
          <a:prstGeom prst="rect">
            <a:avLst/>
          </a:prstGeom>
          <a:solidFill>
            <a:srgbClr val="F59E0B"/>
          </a:solidFill>
          <a:ln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9"/>
          <p:cNvGrpSpPr/>
          <p:nvPr/>
        </p:nvGrpSpPr>
        <p:grpSpPr>
          <a:xfrm>
            <a:off x="5334000" y="1238250"/>
            <a:ext cx="3444300" cy="3429000"/>
            <a:chOff x="5334000" y="1238250"/>
            <a:chExt cx="3444300" cy="3429000"/>
          </a:xfrm>
        </p:grpSpPr>
        <p:sp>
          <p:nvSpPr>
            <p:cNvPr id="180" name="Google Shape;180;p9"/>
            <p:cNvSpPr/>
            <p:nvPr/>
          </p:nvSpPr>
          <p:spPr>
            <a:xfrm>
              <a:off x="5334000" y="1238250"/>
              <a:ext cx="34443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5334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5524500" y="1381125"/>
              <a:ext cx="3063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High Theft Risk: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Beer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and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Wine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show the largest gap above target — both are high-value, high-theft categories.</a:t>
              </a:r>
              <a:endParaRPr sz="1100" b="1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Significant Breaches: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General merchandise, Vape, and Cigarettes also significantly exceed their shrink rate targets.</a:t>
              </a:r>
              <a:endParaRPr sz="1100" b="1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Low Risk Areas: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Water, Candy, and Salty Snacks are closest to or within target — lowest risk categories.</a:t>
              </a:r>
              <a:endParaRPr sz="1100" b="1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150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highlight>
                    <a:srgbClr val="FEF3C7"/>
                  </a:highlight>
                  <a:latin typeface="Inter"/>
                  <a:ea typeface="Inter"/>
                  <a:cs typeface="Inter"/>
                  <a:sym typeface="Inter"/>
                </a:rPr>
                <a:t>Network Health: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5 of 15 categories show persistent target breaches requiring category-specific interventions.</a:t>
              </a:r>
              <a:endParaRPr sz="1100" b="1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4" name="Google Shape;184;p9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Actual vs Target Shrink Rate by Category</a:t>
            </a:r>
            <a:endParaRPr sz="18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CATEGORY</a:t>
            </a:r>
            <a:endParaRPr sz="1000" b="1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334000" y="914400"/>
            <a:ext cx="3246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36" y="1234440"/>
            <a:ext cx="4886364" cy="3432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Inventory Record Accuracy vs Target</a:t>
            </a:r>
            <a:endParaRPr sz="1800" b="1" i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 sz="1000" b="1" i="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334000" y="914400"/>
            <a:ext cx="34443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 i="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9" name="Google Shape;199;p10"/>
          <p:cNvGrpSpPr/>
          <p:nvPr/>
        </p:nvGrpSpPr>
        <p:grpSpPr>
          <a:xfrm>
            <a:off x="5334000" y="1234440"/>
            <a:ext cx="3444300" cy="3432810"/>
            <a:chOff x="5334000" y="1234440"/>
            <a:chExt cx="3444300" cy="3432810"/>
          </a:xfrm>
        </p:grpSpPr>
        <p:sp>
          <p:nvSpPr>
            <p:cNvPr id="200" name="Google Shape;200;p10"/>
            <p:cNvSpPr/>
            <p:nvPr/>
          </p:nvSpPr>
          <p:spPr>
            <a:xfrm>
              <a:off x="5334000" y="1234440"/>
              <a:ext cx="3444300" cy="36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5334000" y="1238250"/>
              <a:ext cx="34443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5334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0"/>
            <p:cNvSpPr txBox="1"/>
            <p:nvPr/>
          </p:nvSpPr>
          <p:spPr>
            <a:xfrm>
              <a:off x="5524500" y="1381125"/>
              <a:ext cx="3063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Performance: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Current inventory record accuracy stands at </a:t>
              </a:r>
              <a:r>
                <a:rPr lang="en-US" sz="1100" b="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97.01%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— exceeding the 92% target by 5 points.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Reliability: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One of the few strongly positive KPIs, suggesting the counting and recording process is reliable.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Confidence: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High accuracy supports confidence that reported shrink figures reflect real losses, not data errors.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Maintenance: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Maintaining this level requires consistent cycle counting discipline, especially in high-shrink stores.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" y="1234440"/>
            <a:ext cx="3828288" cy="3290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REPORT OVERVIEW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62" y="855893"/>
            <a:ext cx="8998476" cy="4170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Negative Inventory Adjustments by Cause</a:t>
            </a:r>
            <a:endParaRPr sz="1800" b="1" i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ADJUSTMENTS</a:t>
            </a:r>
            <a:endParaRPr sz="1000" b="1" i="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334000" y="914400"/>
            <a:ext cx="34443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 i="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334000" y="1234440"/>
            <a:ext cx="3444300" cy="36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oogle Shape;225;p12"/>
          <p:cNvGrpSpPr/>
          <p:nvPr/>
        </p:nvGrpSpPr>
        <p:grpSpPr>
          <a:xfrm>
            <a:off x="5334000" y="1238250"/>
            <a:ext cx="3444300" cy="3429000"/>
            <a:chOff x="5334000" y="1238250"/>
            <a:chExt cx="3444300" cy="3429000"/>
          </a:xfrm>
        </p:grpSpPr>
        <p:sp>
          <p:nvSpPr>
            <p:cNvPr id="226" name="Google Shape;226;p12"/>
            <p:cNvSpPr/>
            <p:nvPr/>
          </p:nvSpPr>
          <p:spPr>
            <a:xfrm>
              <a:off x="5334000" y="1238250"/>
              <a:ext cx="34443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334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2"/>
            <p:cNvSpPr txBox="1"/>
            <p:nvPr/>
          </p:nvSpPr>
          <p:spPr>
            <a:xfrm>
              <a:off x="5524500" y="1381125"/>
              <a:ext cx="3063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Expiry</a:t>
              </a: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Generates the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highest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volume of negative adjustments — far exceeding all other causes.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Damage</a:t>
              </a: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The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second largest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adjustment cause, consistent with the attribution chart findings.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Process Control: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b="0" dirty="0" smtClean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Transfer out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and </a:t>
              </a:r>
              <a:r>
                <a:rPr lang="en-US" sz="1100" b="0" dirty="0" smtClean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employee meal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adjustments are mid-range — both controllable with process changes.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Reclassification: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'Other' adjustments are the smallest bucket but should be investigated and reclassified where possible.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26" y="1234440"/>
            <a:ext cx="3905795" cy="3432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Daily Shrink Rate Trend</a:t>
            </a:r>
            <a:endParaRPr sz="22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DAILY</a:t>
            </a:r>
            <a:endParaRPr sz="1000" b="1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1" name="Google Shape;241;p13"/>
          <p:cNvGrpSpPr/>
          <p:nvPr/>
        </p:nvGrpSpPr>
        <p:grpSpPr>
          <a:xfrm>
            <a:off x="5715000" y="1238250"/>
            <a:ext cx="3048000" cy="3429000"/>
            <a:chOff x="5715000" y="1238250"/>
            <a:chExt cx="3048000" cy="3429000"/>
          </a:xfrm>
        </p:grpSpPr>
        <p:sp>
          <p:nvSpPr>
            <p:cNvPr id="242" name="Google Shape;242;p13"/>
            <p:cNvSpPr/>
            <p:nvPr/>
          </p:nvSpPr>
          <p:spPr>
            <a:xfrm>
              <a:off x="5715000" y="1238250"/>
              <a:ext cx="3048000" cy="3429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5715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3"/>
            <p:cNvSpPr txBox="1"/>
            <p:nvPr/>
          </p:nvSpPr>
          <p:spPr>
            <a:xfrm>
              <a:off x="5857875" y="1381125"/>
              <a:ext cx="2762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Stable Trend: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Shrink rate is broadly stable across </a:t>
              </a:r>
              <a:r>
                <a:rPr lang="en-US" sz="110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days 1–25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, oscillating within a consistent range.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Period Spike: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A sharp spike is visible around </a:t>
              </a:r>
              <a:r>
                <a:rPr lang="en-US" sz="110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day 30 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— suggesting an end-of-period anomaly or reporting lag.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Cyclical Peaks: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Secondary spikes around days 8 and 20 may correspond to product expiry batches or deliveries.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Alert Threshold: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Daily alerts should trigger when shrink rate exceeds the observed baseline by more than 1.5×.</a:t>
              </a:r>
              <a:endParaRPr sz="1100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5" name="Google Shape;245;p13"/>
          <p:cNvSpPr/>
          <p:nvPr/>
        </p:nvSpPr>
        <p:spPr>
          <a:xfrm>
            <a:off x="5715000" y="914400"/>
            <a:ext cx="304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5715000" y="1162050"/>
            <a:ext cx="3048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27" y="1238250"/>
            <a:ext cx="4634346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Shrink Loss Attribution by Cause</a:t>
            </a:r>
            <a:endParaRPr sz="2200" b="1" i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CAUSES</a:t>
            </a:r>
            <a:endParaRPr sz="1000" b="1" i="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5669280" y="914400"/>
            <a:ext cx="32460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 i="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5669280" y="1234440"/>
            <a:ext cx="3246000" cy="36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9" name="Google Shape;259;p14"/>
          <p:cNvGrpSpPr/>
          <p:nvPr/>
        </p:nvGrpSpPr>
        <p:grpSpPr>
          <a:xfrm>
            <a:off x="5715000" y="1238250"/>
            <a:ext cx="3048000" cy="3429000"/>
            <a:chOff x="5715000" y="1238250"/>
            <a:chExt cx="3048000" cy="3429000"/>
          </a:xfrm>
        </p:grpSpPr>
        <p:sp>
          <p:nvSpPr>
            <p:cNvPr id="260" name="Google Shape;260;p14"/>
            <p:cNvSpPr/>
            <p:nvPr/>
          </p:nvSpPr>
          <p:spPr>
            <a:xfrm>
              <a:off x="5715000" y="1238250"/>
              <a:ext cx="3048000" cy="3429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715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 txBox="1"/>
            <p:nvPr/>
          </p:nvSpPr>
          <p:spPr>
            <a:xfrm>
              <a:off x="5857875" y="1381125"/>
              <a:ext cx="2762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Expiry</a:t>
              </a: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100" b="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Leading cause at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29.11%</a:t>
              </a:r>
              <a:r>
                <a:rPr lang="en-US" sz="1100" b="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— indicating stock rotation and ordering process failures.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Damage</a:t>
              </a: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100" b="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Accounts for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24.63%</a:t>
              </a:r>
              <a:r>
                <a:rPr lang="en-US" sz="1100" b="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— the second largest contributor, linked to handling and storage.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lvl="0">
                <a:spcBef>
                  <a:spcPts val="1200"/>
                </a:spcBef>
              </a:pPr>
              <a:r>
                <a:rPr lang="en-US" sz="1100" dirty="0" smtClean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Theft 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(est</a:t>
              </a:r>
              <a:r>
                <a:rPr lang="en-US" sz="1100" dirty="0" smtClean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.): 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is the third largest at 19.38%. </a:t>
              </a:r>
              <a:endParaRPr lang="en-US" sz="1100" dirty="0" smtClean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>
                <a:spcBef>
                  <a:spcPts val="1200"/>
                </a:spcBef>
              </a:pPr>
              <a:r>
                <a:rPr lang="en-US" sz="1100" b="1" dirty="0" smtClean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Minor Causes: </a:t>
              </a:r>
              <a:r>
                <a:rPr lang="en-US" sz="1100" dirty="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Other unclassified shrink sits at 14.59%.</a:t>
              </a:r>
            </a:p>
            <a:p>
              <a:pPr lvl="0">
                <a:spcBef>
                  <a:spcPts val="1200"/>
                </a:spcBef>
              </a:pP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67" y="1252740"/>
            <a:ext cx="3974937" cy="341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SKU Level Expected vs Actual Inventory</a:t>
            </a:r>
            <a:endParaRPr sz="2200" b="1" i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SKU</a:t>
            </a:r>
            <a:endParaRPr sz="1000" b="1" i="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715000" y="914400"/>
            <a:ext cx="304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 i="0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5715000" y="1162050"/>
            <a:ext cx="3048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6" name="Google Shape;276;p15"/>
          <p:cNvGrpSpPr/>
          <p:nvPr/>
        </p:nvGrpSpPr>
        <p:grpSpPr>
          <a:xfrm>
            <a:off x="5715000" y="1238250"/>
            <a:ext cx="3048000" cy="3429000"/>
            <a:chOff x="5715000" y="1238250"/>
            <a:chExt cx="3048000" cy="3429000"/>
          </a:xfrm>
        </p:grpSpPr>
        <p:sp>
          <p:nvSpPr>
            <p:cNvPr id="277" name="Google Shape;277;p15"/>
            <p:cNvSpPr/>
            <p:nvPr/>
          </p:nvSpPr>
          <p:spPr>
            <a:xfrm>
              <a:off x="5715000" y="1238250"/>
              <a:ext cx="3048000" cy="3429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5715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 txBox="1"/>
            <p:nvPr/>
          </p:nvSpPr>
          <p:spPr>
            <a:xfrm>
              <a:off x="5857875" y="1381125"/>
              <a:ext cx="2762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Max Variance</a:t>
              </a:r>
              <a:r>
                <a:rPr lang="en-US" sz="1100" b="1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US" sz="1100" b="0" dirty="0" err="1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MetroFresh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 #0045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has the largest variance: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-30,717 units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between expected and actual inventory.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Systemic Loss: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Negative variances are consistently large across the top stores, indicating systemic loss issues.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Highest Shrink: </a:t>
              </a:r>
              <a:r>
                <a:rPr lang="en-US" sz="1100" b="0" dirty="0" err="1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MetroFresh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 #0009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shows the </a:t>
              </a:r>
              <a:r>
                <a:rPr lang="en-US" sz="1100" b="0" dirty="0">
                  <a:solidFill>
                    <a:srgbClr val="FF0000"/>
                  </a:solidFill>
                  <a:latin typeface="Inter"/>
                  <a:ea typeface="Inter"/>
                  <a:cs typeface="Inter"/>
                  <a:sym typeface="Inter"/>
                </a:rPr>
                <a:t>highest shrink value (£2,342)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despite not having the worst unit gap.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Targeted Focus: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SKU-level monitoring should focus on stores with both large unit gaps and high £ shrink values.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1238251"/>
            <a:ext cx="5450355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/>
          <p:nvPr/>
        </p:nvSpPr>
        <p:spPr>
          <a:xfrm>
            <a:off x="0" y="0"/>
            <a:ext cx="9144000" cy="731400"/>
          </a:xfrm>
          <a:prstGeom prst="rect">
            <a:avLst/>
          </a:prstGeom>
          <a:solidFill>
            <a:srgbClr val="1F2937"/>
          </a:solidFill>
          <a:ln w="127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0" y="731520"/>
            <a:ext cx="9144000" cy="456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5715000" y="1162050"/>
            <a:ext cx="3048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" name="Google Shape;290;p16"/>
          <p:cNvGrpSpPr/>
          <p:nvPr/>
        </p:nvGrpSpPr>
        <p:grpSpPr>
          <a:xfrm>
            <a:off x="5715000" y="1238250"/>
            <a:ext cx="3048000" cy="3429000"/>
            <a:chOff x="5715000" y="1238250"/>
            <a:chExt cx="3048000" cy="3429000"/>
          </a:xfrm>
        </p:grpSpPr>
        <p:sp>
          <p:nvSpPr>
            <p:cNvPr id="291" name="Google Shape;291;p16"/>
            <p:cNvSpPr/>
            <p:nvPr/>
          </p:nvSpPr>
          <p:spPr>
            <a:xfrm>
              <a:off x="5715000" y="1238250"/>
              <a:ext cx="3048000" cy="3429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5715000" y="1238250"/>
              <a:ext cx="57300" cy="3429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6"/>
            <p:cNvSpPr txBox="1"/>
            <p:nvPr/>
          </p:nvSpPr>
          <p:spPr>
            <a:xfrm>
              <a:off x="5857875" y="1381125"/>
              <a:ext cx="2762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Uniform Distribution: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Shrink is distributed almost </a:t>
              </a:r>
              <a:r>
                <a:rPr lang="en-US" sz="1100" b="0" dirty="0">
                  <a:solidFill>
                    <a:schemeClr val="accent6"/>
                  </a:solidFill>
                  <a:latin typeface="Inter"/>
                  <a:ea typeface="Inter"/>
                  <a:cs typeface="Inter"/>
                  <a:sym typeface="Inter"/>
                </a:rPr>
                <a:t>equally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across evening, midday, morning, and overnight shifts.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No Vulnerability: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No single shift carries a disproportionate share, ruling out a single-window vulnerability.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Overnight Risk: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overnight shift has fewer staff — making equivalent shrink there more operationally significant.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Data Correlation: </a:t>
              </a:r>
              <a:r>
                <a:rPr lang="en-US" sz="1100" b="0" dirty="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Shift analysis should be cross-referenced with theft and employee consumption data for clarity.</a:t>
              </a:r>
              <a:endParaRPr sz="1100" b="1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95" name="Google Shape;295;p16"/>
          <p:cNvSpPr/>
          <p:nvPr/>
        </p:nvSpPr>
        <p:spPr>
          <a:xfrm>
            <a:off x="365760" y="0"/>
            <a:ext cx="7680900" cy="73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Shrink Value by Shift Classification</a:t>
            </a:r>
            <a:endParaRPr sz="22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7818120" y="182880"/>
            <a:ext cx="1097400" cy="34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SHIFTS</a:t>
            </a:r>
            <a:endParaRPr sz="1000" b="1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715000" y="914400"/>
            <a:ext cx="304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1200" b="1">
              <a:solidFill>
                <a:srgbClr val="1F29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13" y="1200150"/>
            <a:ext cx="4082302" cy="346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457200" y="0"/>
            <a:ext cx="82296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INSIGHTS &amp; RECOMMENDATIONS</a:t>
            </a:r>
            <a:endParaRPr sz="2400" b="1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5" name="Google Shape;305;p17"/>
          <p:cNvGrpSpPr/>
          <p:nvPr/>
        </p:nvGrpSpPr>
        <p:grpSpPr>
          <a:xfrm>
            <a:off x="285750" y="952500"/>
            <a:ext cx="4143300" cy="1143000"/>
            <a:chOff x="285750" y="952500"/>
            <a:chExt cx="4143300" cy="1143000"/>
          </a:xfrm>
        </p:grpSpPr>
        <p:sp>
          <p:nvSpPr>
            <p:cNvPr id="306" name="Google Shape;306;p17"/>
            <p:cNvSpPr/>
            <p:nvPr/>
          </p:nvSpPr>
          <p:spPr>
            <a:xfrm>
              <a:off x="285750" y="952500"/>
              <a:ext cx="4143300" cy="1143000"/>
            </a:xfrm>
            <a:prstGeom prst="roundRect">
              <a:avLst>
                <a:gd name="adj" fmla="val 666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428625" y="1095375"/>
              <a:ext cx="571500" cy="228600"/>
            </a:xfrm>
            <a:prstGeom prst="roundRect">
              <a:avLst>
                <a:gd name="adj" fmla="val 16666"/>
              </a:avLst>
            </a:prstGeom>
            <a:solidFill>
              <a:srgbClr val="DC262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7"/>
            <p:cNvSpPr txBox="1"/>
            <p:nvPr/>
          </p:nvSpPr>
          <p:spPr>
            <a:xfrm>
              <a:off x="428625" y="1095375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HIGH</a:t>
              </a:r>
              <a:endParaRPr sz="9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9" name="Google Shape;309;p17"/>
            <p:cNvSpPr txBox="1"/>
            <p:nvPr/>
          </p:nvSpPr>
          <p:spPr>
            <a:xfrm>
              <a:off x="1095375" y="1066800"/>
              <a:ext cx="3190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Address Expiry Losses</a:t>
              </a:r>
              <a:endParaRPr sz="1300" b="1">
                <a:solidFill>
                  <a:srgbClr val="FCD3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17"/>
            <p:cNvSpPr txBox="1"/>
            <p:nvPr/>
          </p:nvSpPr>
          <p:spPr>
            <a:xfrm>
              <a:off x="428625" y="1381125"/>
              <a:ext cx="385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Review ordering patterns for Beer, Wine &amp; Vape. Implement FIFO strictly, add markdown triggers 48 hrs before expiry.</a:t>
              </a:r>
              <a:endParaRPr sz="1100" b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1" name="Google Shape;311;p17"/>
          <p:cNvGrpSpPr/>
          <p:nvPr/>
        </p:nvGrpSpPr>
        <p:grpSpPr>
          <a:xfrm>
            <a:off x="4714875" y="952500"/>
            <a:ext cx="4143300" cy="1143000"/>
            <a:chOff x="4714875" y="952500"/>
            <a:chExt cx="4143300" cy="1143000"/>
          </a:xfrm>
        </p:grpSpPr>
        <p:sp>
          <p:nvSpPr>
            <p:cNvPr id="312" name="Google Shape;312;p17"/>
            <p:cNvSpPr/>
            <p:nvPr/>
          </p:nvSpPr>
          <p:spPr>
            <a:xfrm>
              <a:off x="4714875" y="952500"/>
              <a:ext cx="4143300" cy="1143000"/>
            </a:xfrm>
            <a:prstGeom prst="roundRect">
              <a:avLst>
                <a:gd name="adj" fmla="val 666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4857750" y="1095375"/>
              <a:ext cx="571500" cy="228600"/>
            </a:xfrm>
            <a:prstGeom prst="roundRect">
              <a:avLst>
                <a:gd name="adj" fmla="val 16666"/>
              </a:avLst>
            </a:prstGeom>
            <a:solidFill>
              <a:srgbClr val="DC262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7"/>
            <p:cNvSpPr txBox="1"/>
            <p:nvPr/>
          </p:nvSpPr>
          <p:spPr>
            <a:xfrm>
              <a:off x="4857750" y="1095375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HIGH</a:t>
              </a:r>
              <a:endParaRPr sz="9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5" name="Google Shape;315;p17"/>
            <p:cNvSpPr txBox="1"/>
            <p:nvPr/>
          </p:nvSpPr>
          <p:spPr>
            <a:xfrm>
              <a:off x="5524500" y="1066800"/>
              <a:ext cx="3190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Intervene in Top 5 Stores</a:t>
              </a:r>
              <a:endParaRPr sz="1300" b="1">
                <a:solidFill>
                  <a:srgbClr val="FCD3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6" name="Google Shape;316;p17"/>
            <p:cNvSpPr txBox="1"/>
            <p:nvPr/>
          </p:nvSpPr>
          <p:spPr>
            <a:xfrm>
              <a:off x="4857750" y="1381125"/>
              <a:ext cx="385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Deploy dedicated loss prevention audits at #0050, #0008 &amp; #0027. Set store-specific shrink KPIs with weekly review.</a:t>
              </a:r>
              <a:endParaRPr sz="1100" b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7" name="Google Shape;317;p17"/>
          <p:cNvGrpSpPr/>
          <p:nvPr/>
        </p:nvGrpSpPr>
        <p:grpSpPr>
          <a:xfrm>
            <a:off x="285750" y="2286000"/>
            <a:ext cx="4143300" cy="1143000"/>
            <a:chOff x="285750" y="2286000"/>
            <a:chExt cx="4143300" cy="1143000"/>
          </a:xfrm>
        </p:grpSpPr>
        <p:sp>
          <p:nvSpPr>
            <p:cNvPr id="318" name="Google Shape;318;p17"/>
            <p:cNvSpPr/>
            <p:nvPr/>
          </p:nvSpPr>
          <p:spPr>
            <a:xfrm>
              <a:off x="285750" y="2286000"/>
              <a:ext cx="4143300" cy="1143000"/>
            </a:xfrm>
            <a:prstGeom prst="roundRect">
              <a:avLst>
                <a:gd name="adj" fmla="val 666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428625" y="2428875"/>
              <a:ext cx="571500" cy="228600"/>
            </a:xfrm>
            <a:prstGeom prst="roundRect">
              <a:avLst>
                <a:gd name="adj" fmla="val 16666"/>
              </a:avLst>
            </a:prstGeom>
            <a:solidFill>
              <a:srgbClr val="DC262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7"/>
            <p:cNvSpPr txBox="1"/>
            <p:nvPr/>
          </p:nvSpPr>
          <p:spPr>
            <a:xfrm>
              <a:off x="428625" y="2428875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HIGH</a:t>
              </a:r>
              <a:endParaRPr sz="9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1" name="Google Shape;321;p17"/>
            <p:cNvSpPr txBox="1"/>
            <p:nvPr/>
          </p:nvSpPr>
          <p:spPr>
            <a:xfrm>
              <a:off x="1095375" y="2400300"/>
              <a:ext cx="3190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Strengthen Urban Controls</a:t>
              </a:r>
              <a:endParaRPr sz="1300" b="1">
                <a:solidFill>
                  <a:srgbClr val="FCD3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2" name="Google Shape;322;p17"/>
            <p:cNvSpPr txBox="1"/>
            <p:nvPr/>
          </p:nvSpPr>
          <p:spPr>
            <a:xfrm>
              <a:off x="428625" y="2714625"/>
              <a:ext cx="385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Urban stores carry 48% of shrink. Increase CCTV coverage, cycle counting frequency, and shift handover checks.</a:t>
              </a:r>
              <a:endParaRPr sz="1100" b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3" name="Google Shape;323;p17"/>
          <p:cNvGrpSpPr/>
          <p:nvPr/>
        </p:nvGrpSpPr>
        <p:grpSpPr>
          <a:xfrm>
            <a:off x="4714875" y="2286000"/>
            <a:ext cx="4143300" cy="1143000"/>
            <a:chOff x="4714875" y="2286000"/>
            <a:chExt cx="4143300" cy="1143000"/>
          </a:xfrm>
        </p:grpSpPr>
        <p:sp>
          <p:nvSpPr>
            <p:cNvPr id="324" name="Google Shape;324;p17"/>
            <p:cNvSpPr/>
            <p:nvPr/>
          </p:nvSpPr>
          <p:spPr>
            <a:xfrm>
              <a:off x="4714875" y="2286000"/>
              <a:ext cx="4143300" cy="1143000"/>
            </a:xfrm>
            <a:prstGeom prst="roundRect">
              <a:avLst>
                <a:gd name="adj" fmla="val 666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4857750" y="2428875"/>
              <a:ext cx="571500" cy="228600"/>
            </a:xfrm>
            <a:prstGeom prst="roundRect">
              <a:avLst>
                <a:gd name="adj" fmla="val 16666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7"/>
            <p:cNvSpPr txBox="1"/>
            <p:nvPr/>
          </p:nvSpPr>
          <p:spPr>
            <a:xfrm>
              <a:off x="4857750" y="2428875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MED</a:t>
              </a:r>
              <a:endParaRPr sz="9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7" name="Google Shape;327;p17"/>
            <p:cNvSpPr txBox="1"/>
            <p:nvPr/>
          </p:nvSpPr>
          <p:spPr>
            <a:xfrm>
              <a:off x="5524500" y="2400300"/>
              <a:ext cx="3190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Reclassify 'Other' Shrink</a:t>
              </a:r>
              <a:endParaRPr sz="1300" b="1">
                <a:solidFill>
                  <a:srgbClr val="FCD3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8" name="Google Shape;328;p17"/>
            <p:cNvSpPr txBox="1"/>
            <p:nvPr/>
          </p:nvSpPr>
          <p:spPr>
            <a:xfrm>
              <a:off x="4857750" y="2714625"/>
              <a:ext cx="385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19% unclassified shrink limits response capability. Introduce mandatory sub-category coding at point of adjustment.</a:t>
              </a:r>
              <a:endParaRPr sz="1100" b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285750" y="3619500"/>
            <a:ext cx="4143300" cy="1143000"/>
            <a:chOff x="285750" y="3619500"/>
            <a:chExt cx="4143300" cy="1143000"/>
          </a:xfrm>
        </p:grpSpPr>
        <p:sp>
          <p:nvSpPr>
            <p:cNvPr id="330" name="Google Shape;330;p17"/>
            <p:cNvSpPr/>
            <p:nvPr/>
          </p:nvSpPr>
          <p:spPr>
            <a:xfrm>
              <a:off x="285750" y="3619500"/>
              <a:ext cx="4143300" cy="1143000"/>
            </a:xfrm>
            <a:prstGeom prst="roundRect">
              <a:avLst>
                <a:gd name="adj" fmla="val 666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428625" y="3762375"/>
              <a:ext cx="571500" cy="228600"/>
            </a:xfrm>
            <a:prstGeom prst="roundRect">
              <a:avLst>
                <a:gd name="adj" fmla="val 16666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7"/>
            <p:cNvSpPr txBox="1"/>
            <p:nvPr/>
          </p:nvSpPr>
          <p:spPr>
            <a:xfrm>
              <a:off x="428625" y="3762375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MED</a:t>
              </a:r>
              <a:endParaRPr sz="9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3" name="Google Shape;333;p17"/>
            <p:cNvSpPr txBox="1"/>
            <p:nvPr/>
          </p:nvSpPr>
          <p:spPr>
            <a:xfrm>
              <a:off x="1095375" y="3733800"/>
              <a:ext cx="3190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Investigate Day 30 Spike</a:t>
              </a:r>
              <a:endParaRPr sz="1300" b="1">
                <a:solidFill>
                  <a:srgbClr val="FCD3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4" name="Google Shape;334;p17"/>
            <p:cNvSpPr txBox="1"/>
            <p:nvPr/>
          </p:nvSpPr>
          <p:spPr>
            <a:xfrm>
              <a:off x="428625" y="4048125"/>
              <a:ext cx="385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The daily trend spike warrants root cause investigation — likely an end-of-period reporting or delivery event.</a:t>
              </a:r>
              <a:endParaRPr sz="1100" b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5" name="Google Shape;335;p17"/>
          <p:cNvGrpSpPr/>
          <p:nvPr/>
        </p:nvGrpSpPr>
        <p:grpSpPr>
          <a:xfrm>
            <a:off x="4714875" y="3619500"/>
            <a:ext cx="4143300" cy="1143000"/>
            <a:chOff x="4714875" y="3619500"/>
            <a:chExt cx="4143300" cy="1143000"/>
          </a:xfrm>
        </p:grpSpPr>
        <p:sp>
          <p:nvSpPr>
            <p:cNvPr id="336" name="Google Shape;336;p17"/>
            <p:cNvSpPr/>
            <p:nvPr/>
          </p:nvSpPr>
          <p:spPr>
            <a:xfrm>
              <a:off x="4714875" y="3619500"/>
              <a:ext cx="4143300" cy="1143000"/>
            </a:xfrm>
            <a:prstGeom prst="roundRect">
              <a:avLst>
                <a:gd name="adj" fmla="val 6666"/>
              </a:avLst>
            </a:prstGeom>
            <a:solidFill>
              <a:srgbClr val="1F2937"/>
            </a:solidFill>
            <a:ln w="9525" cap="flat" cmpd="sng">
              <a:solidFill>
                <a:srgbClr val="374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4857750" y="3762375"/>
              <a:ext cx="571500" cy="228600"/>
            </a:xfrm>
            <a:prstGeom prst="roundRect">
              <a:avLst>
                <a:gd name="adj" fmla="val 16666"/>
              </a:avLst>
            </a:prstGeom>
            <a:solidFill>
              <a:srgbClr val="16A3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7"/>
            <p:cNvSpPr txBox="1"/>
            <p:nvPr/>
          </p:nvSpPr>
          <p:spPr>
            <a:xfrm>
              <a:off x="4857750" y="3762375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LOW</a:t>
              </a:r>
              <a:endParaRPr sz="9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9" name="Google Shape;339;p17"/>
            <p:cNvSpPr txBox="1"/>
            <p:nvPr/>
          </p:nvSpPr>
          <p:spPr>
            <a:xfrm>
              <a:off x="5524500" y="3733800"/>
              <a:ext cx="3190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CD34D"/>
                  </a:solidFill>
                  <a:latin typeface="Inter"/>
                  <a:ea typeface="Inter"/>
                  <a:cs typeface="Inter"/>
                  <a:sym typeface="Inter"/>
                </a:rPr>
                <a:t>Sustain Accuracy Rate</a:t>
              </a:r>
              <a:endParaRPr sz="1300" b="1">
                <a:solidFill>
                  <a:srgbClr val="FCD34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0" name="Google Shape;340;p17"/>
            <p:cNvSpPr txBox="1"/>
            <p:nvPr/>
          </p:nvSpPr>
          <p:spPr>
            <a:xfrm>
              <a:off x="4857750" y="4048125"/>
              <a:ext cx="38577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Inventory accuracy at 97% is a strong asset. Formalise the counting process to protect this KPI long-term.</a:t>
              </a:r>
              <a:endParaRPr sz="1100" b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571500" y="1428750"/>
            <a:ext cx="76200" cy="2286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857250" y="1428750"/>
            <a:ext cx="7715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METRO FRESH</a:t>
            </a:r>
            <a:endParaRPr sz="2000" b="1" dirty="0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Shrink Loss Analysis</a:t>
            </a:r>
            <a:endParaRPr sz="2000" b="0" dirty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lvl="0">
              <a:spcBef>
                <a:spcPts val="1800"/>
              </a:spcBef>
            </a:pPr>
            <a:r>
              <a:rPr lang="en-US" sz="2000" b="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Insights generated from </a:t>
            </a:r>
            <a:r>
              <a:rPr lang="en-US" sz="200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November 2024 – April </a:t>
            </a:r>
            <a:r>
              <a:rPr lang="en-US" sz="2000" dirty="0" smtClean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2025 retail </a:t>
            </a:r>
            <a:r>
              <a:rPr lang="en-US" sz="2000" b="0" dirty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operations data</a:t>
            </a:r>
            <a:r>
              <a:rPr lang="en-US" sz="2000" b="0" dirty="0" smtClean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4000" dirty="0" smtClean="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THANK YOU.</a:t>
            </a:r>
            <a:endParaRPr sz="4000" b="0" dirty="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1553</Words>
  <Application>Microsoft Office PowerPoint</Application>
  <PresentationFormat>On-screen Show (16:9)</PresentationFormat>
  <Paragraphs>178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Inter</vt:lpstr>
      <vt:lpstr>Calibri</vt:lpstr>
      <vt:lpstr>Times New Roman</vt:lpstr>
      <vt:lpstr>Georgia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Esmeralda</dc:creator>
  <cp:lastModifiedBy>Esmeralda Pinamang Osei</cp:lastModifiedBy>
  <cp:revision>8</cp:revision>
  <dcterms:created xsi:type="dcterms:W3CDTF">2026-05-28T00:46:12Z</dcterms:created>
  <dcterms:modified xsi:type="dcterms:W3CDTF">2026-05-28T11:58:04Z</dcterms:modified>
</cp:coreProperties>
</file>